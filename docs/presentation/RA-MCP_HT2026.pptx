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7"/>
    <p:sldId id="257" r:id="rId8"/>
    <p:sldId id="258" r:id="rId9"/>
    <p:sldId id="259" r:id="rId10"/>
    <p:sldId id="260" r:id="rId11"/>
  </p:sldIdLst>
  <p:sldSz cx="12192000" cy="6858000"/>
  <p:notesSz cx="6858000" cy="9144000"/>
  <p:defaultTextStyle>
    <a:defPPr>
      <a:defRPr lang="sv-SE"/>
    </a:defPPr>
    <a:lvl1pPr marL="0" algn="l" defTabSz="914400" rtl="0" eaLnBrk="1" latinLnBrk="0" hangingPunct="1">
      <a:defRPr lang="sv-SE" sz="1800" kern="1200">
        <a:solidFill>
          <a:schemeClr val="tx1"/>
        </a:solidFill>
        <a:latin typeface="+mn-lt"/>
        <a:ea typeface="+mn-ea"/>
        <a:cs typeface="+mn-cs"/>
      </a:defRPr>
    </a:lvl1pPr>
    <a:lvl2pPr marL="457200" algn="l" defTabSz="914400" rtl="0" eaLnBrk="1" latinLnBrk="0" hangingPunct="1">
      <a:defRPr lang="sv-SE" sz="1800" kern="1200">
        <a:solidFill>
          <a:schemeClr val="tx1"/>
        </a:solidFill>
        <a:latin typeface="+mn-lt"/>
        <a:ea typeface="+mn-ea"/>
        <a:cs typeface="+mn-cs"/>
      </a:defRPr>
    </a:lvl2pPr>
    <a:lvl3pPr marL="914400" algn="l" defTabSz="914400" rtl="0" eaLnBrk="1" latinLnBrk="0" hangingPunct="1">
      <a:defRPr lang="sv-SE" sz="1800" kern="1200">
        <a:solidFill>
          <a:schemeClr val="tx1"/>
        </a:solidFill>
        <a:latin typeface="+mn-lt"/>
        <a:ea typeface="+mn-ea"/>
        <a:cs typeface="+mn-cs"/>
      </a:defRPr>
    </a:lvl3pPr>
    <a:lvl4pPr marL="1371600" algn="l" defTabSz="914400" rtl="0" eaLnBrk="1" latinLnBrk="0" hangingPunct="1">
      <a:defRPr lang="sv-SE" sz="1800" kern="1200">
        <a:solidFill>
          <a:schemeClr val="tx1"/>
        </a:solidFill>
        <a:latin typeface="+mn-lt"/>
        <a:ea typeface="+mn-ea"/>
        <a:cs typeface="+mn-cs"/>
      </a:defRPr>
    </a:lvl4pPr>
    <a:lvl5pPr marL="1828800" algn="l" defTabSz="914400" rtl="0" eaLnBrk="1" latinLnBrk="0" hangingPunct="1">
      <a:defRPr lang="sv-SE" sz="1800" kern="1200">
        <a:solidFill>
          <a:schemeClr val="tx1"/>
        </a:solidFill>
        <a:latin typeface="+mn-lt"/>
        <a:ea typeface="+mn-ea"/>
        <a:cs typeface="+mn-cs"/>
      </a:defRPr>
    </a:lvl5pPr>
    <a:lvl6pPr marL="2286000" algn="l" defTabSz="914400" rtl="0" eaLnBrk="1" latinLnBrk="0" hangingPunct="1">
      <a:defRPr lang="sv-SE" sz="1800" kern="1200">
        <a:solidFill>
          <a:schemeClr val="tx1"/>
        </a:solidFill>
        <a:latin typeface="+mn-lt"/>
        <a:ea typeface="+mn-ea"/>
        <a:cs typeface="+mn-cs"/>
      </a:defRPr>
    </a:lvl6pPr>
    <a:lvl7pPr marL="2743200" algn="l" defTabSz="914400" rtl="0" eaLnBrk="1" latinLnBrk="0" hangingPunct="1">
      <a:defRPr lang="sv-SE" sz="1800" kern="1200">
        <a:solidFill>
          <a:schemeClr val="tx1"/>
        </a:solidFill>
        <a:latin typeface="+mn-lt"/>
        <a:ea typeface="+mn-ea"/>
        <a:cs typeface="+mn-cs"/>
      </a:defRPr>
    </a:lvl7pPr>
    <a:lvl8pPr marL="3200400" algn="l" defTabSz="914400" rtl="0" eaLnBrk="1" latinLnBrk="0" hangingPunct="1">
      <a:defRPr lang="sv-SE" sz="1800" kern="1200">
        <a:solidFill>
          <a:schemeClr val="tx1"/>
        </a:solidFill>
        <a:latin typeface="+mn-lt"/>
        <a:ea typeface="+mn-ea"/>
        <a:cs typeface="+mn-cs"/>
      </a:defRPr>
    </a:lvl8pPr>
    <a:lvl9pPr marL="3657600" algn="l" defTabSz="914400" rtl="0" eaLnBrk="1" latinLnBrk="0" hangingPunct="1">
      <a:defRPr lang="sv-SE"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80885" autoAdjust="0"/>
  </p:normalViewPr>
  <p:slideViewPr>
    <p:cSldViewPr snapToGrid="0" showGuides="1">
      <p:cViewPr varScale="1">
        <p:scale>
          <a:sx n="51" d="100"/>
          <a:sy n="51" d="100"/>
        </p:scale>
        <p:origin x="1256" y="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sv-SE"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sv-SE" sz="1200"/>
            </a:lvl1pPr>
          </a:lstStyle>
          <a:p>
            <a:fld id="{F7091461-4A85-432F-B4B9-5D7E43B4C6E1}" type="datetimeFigureOut">
              <a:rPr lang="sv-SE" smtClean="0"/>
              <a:t>2026-10-09</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sv-SE"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sv-SE" sz="1200"/>
            </a:lvl1pPr>
          </a:lstStyle>
          <a:p>
            <a:fld id="{13AFF709-3306-428A-9D05-F3F5385CE79E}" type="slidenum">
              <a:rPr lang="sv-SE" smtClean="0"/>
              <a:t>‹#›</a:t>
            </a:fld>
            <a:endParaRPr lang="sv-SE"/>
          </a:p>
        </p:txBody>
      </p:sp>
    </p:spTree>
    <p:extLst>
      <p:ext uri="{BB962C8B-B14F-4D97-AF65-F5344CB8AC3E}">
        <p14:creationId xmlns:p14="http://schemas.microsoft.com/office/powerpoint/2010/main" val="24622861"/>
      </p:ext>
    </p:extLst>
  </p:cSld>
  <p:clrMap bg1="lt1" tx1="dk1" bg2="lt2" tx2="dk2" accent1="accent1" accent2="accent2" accent3="accent3" accent4="accent4" accent5="accent5" accent6="accent6" hlink="hlink" folHlink="folHlink"/>
  <p:notesStyle>
    <a:lvl1pPr marL="0" algn="l" defTabSz="914400" rtl="0" eaLnBrk="1" latinLnBrk="0" hangingPunct="1">
      <a:defRPr lang="sv-SE" sz="1200" kern="1200">
        <a:solidFill>
          <a:schemeClr val="tx1"/>
        </a:solidFill>
        <a:latin typeface="+mn-lt"/>
        <a:ea typeface="+mn-ea"/>
        <a:cs typeface="+mn-cs"/>
      </a:defRPr>
    </a:lvl1pPr>
    <a:lvl2pPr marL="457200" algn="l" defTabSz="914400" rtl="0" eaLnBrk="1" latinLnBrk="0" hangingPunct="1">
      <a:defRPr lang="sv-SE" sz="1200" kern="1200">
        <a:solidFill>
          <a:schemeClr val="tx1"/>
        </a:solidFill>
        <a:latin typeface="+mn-lt"/>
        <a:ea typeface="+mn-ea"/>
        <a:cs typeface="+mn-cs"/>
      </a:defRPr>
    </a:lvl2pPr>
    <a:lvl3pPr marL="914400" algn="l" defTabSz="914400" rtl="0" eaLnBrk="1" latinLnBrk="0" hangingPunct="1">
      <a:defRPr lang="sv-SE" sz="1200" kern="1200">
        <a:solidFill>
          <a:schemeClr val="tx1"/>
        </a:solidFill>
        <a:latin typeface="+mn-lt"/>
        <a:ea typeface="+mn-ea"/>
        <a:cs typeface="+mn-cs"/>
      </a:defRPr>
    </a:lvl3pPr>
    <a:lvl4pPr marL="1371600" algn="l" defTabSz="914400" rtl="0" eaLnBrk="1" latinLnBrk="0" hangingPunct="1">
      <a:defRPr lang="sv-SE" sz="1200" kern="1200">
        <a:solidFill>
          <a:schemeClr val="tx1"/>
        </a:solidFill>
        <a:latin typeface="+mn-lt"/>
        <a:ea typeface="+mn-ea"/>
        <a:cs typeface="+mn-cs"/>
      </a:defRPr>
    </a:lvl4pPr>
    <a:lvl5pPr marL="1828800" algn="l" defTabSz="914400" rtl="0" eaLnBrk="1" latinLnBrk="0" hangingPunct="1">
      <a:defRPr lang="sv-SE" sz="1200" kern="1200">
        <a:solidFill>
          <a:schemeClr val="tx1"/>
        </a:solidFill>
        <a:latin typeface="+mn-lt"/>
        <a:ea typeface="+mn-ea"/>
        <a:cs typeface="+mn-cs"/>
      </a:defRPr>
    </a:lvl5pPr>
    <a:lvl6pPr marL="2286000" algn="l" defTabSz="914400" rtl="0" eaLnBrk="1" latinLnBrk="0" hangingPunct="1">
      <a:defRPr lang="sv-SE" sz="1200" kern="1200">
        <a:solidFill>
          <a:schemeClr val="tx1"/>
        </a:solidFill>
        <a:latin typeface="+mn-lt"/>
        <a:ea typeface="+mn-ea"/>
        <a:cs typeface="+mn-cs"/>
      </a:defRPr>
    </a:lvl6pPr>
    <a:lvl7pPr marL="2743200" algn="l" defTabSz="914400" rtl="0" eaLnBrk="1" latinLnBrk="0" hangingPunct="1">
      <a:defRPr lang="sv-SE" sz="1200" kern="1200">
        <a:solidFill>
          <a:schemeClr val="tx1"/>
        </a:solidFill>
        <a:latin typeface="+mn-lt"/>
        <a:ea typeface="+mn-ea"/>
        <a:cs typeface="+mn-cs"/>
      </a:defRPr>
    </a:lvl7pPr>
    <a:lvl8pPr marL="3200400" algn="l" defTabSz="914400" rtl="0" eaLnBrk="1" latinLnBrk="0" hangingPunct="1">
      <a:defRPr lang="sv-SE" sz="1200" kern="1200">
        <a:solidFill>
          <a:schemeClr val="tx1"/>
        </a:solidFill>
        <a:latin typeface="+mn-lt"/>
        <a:ea typeface="+mn-ea"/>
        <a:cs typeface="+mn-cs"/>
      </a:defRPr>
    </a:lvl8pPr>
    <a:lvl9pPr marL="3657600" algn="l" defTabSz="914400" rtl="0" eaLnBrk="1" latinLnBrk="0" hangingPunct="1">
      <a:defRPr lang="sv-SE"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sv-SE"/>
              <a:t>Varför bryr vi oss? Allt fler når information via en AI-assistent i stället för via ett sökgränssnitt – och det sker oavsett om arkiven förbereder sig. Vi vill finnas där frågorna ställs.</a:t>
            </a:r>
          </a:p>
          <a:p/>
          <a:p>
            <a:r>
              <a:rPr lang="sv-SE"/>
              <a:t>MCP är en öppen standard som låter en AI-assistent använda verktyg utanför sig själv. RA-MCP gör våra arkivförteckningar, 73 miljoner bilder, transkriberad handskrift och ett trettiotal register till sådana verktyg.</a:t>
            </a:r>
          </a:p>
          <a:p/>
          <a:p>
            <a:r>
              <a:rPr lang="sv-SE"/>
              <a:t>Följ bilden: du frågar på vilket språk du vill. Assistenten väljer verktyg och söker på svenska, gärna med äldre stavningar. Svaret kommer tillbaka på ditt språk, med länkar till originalen. Du behöver inte veta vilken databas som har svaret.</a:t>
            </a:r>
          </a:p>
          <a:p/>
          <a:p>
            <a:r>
              <a:rPr lang="sv-SE"/>
              <a:t>Och viktigt för ett arkiv: datan stannar hos oss. Assistenten får ställa frågor, men ingen kopia lämnar arkivet. Samma princip skulle kunna fungera mellan flera institutioner. Eftersom MCP är en standard binder vi oss inte heller vid en leverantör – Claude, ChatGPT och Mistral fungerar alla.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sv-SE"/>
              <a:t>Här är det som finns bakom RA-MCP. Kärnan är tre saker: sökning i AI-transkriberad handskrift, sökning i katalogen, och möjligheten att öppna originalbilden med texten ovanpå. Runt det finns ett trettiotal register – kyrkböckernas födda, döda och vigda, Svenskt biografiskt lexikon, medeltida brev, sjömanshus, domböcker och fler.</a:t>
            </a:r>
          </a:p>
          <a:p/>
          <a:p>
            <a:r>
              <a:rPr lang="sv-SE"/>
              <a:t>Det mörka kortet är skills. Det är inbyggd vägledning som lär AI:n hur man söker i arkiv – gamla stavningar, felläst handskrift, rätt källhänvisning. Det är skillnaden mellan att söka och att söka bra, och man behöver inte installera något extra.</a:t>
            </a:r>
          </a:p>
          <a:p/>
          <a:p>
            <a:r>
              <a:rPr lang="sv-SE"/>
              <a:t>Poängen: du behöver inte veta vilken källa som har svaret. AI:n väljer själv.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sv-SE"/>
              <a:t>Tre användare, tre frågor – alla testade mot den här releasen. Ställ dem live.</a:t>
            </a:r>
          </a:p>
          <a:p/>
          <a:p>
            <a:r>
              <a:rPr lang="sv-SE"/>
              <a:t>Släktforskaren frågar brett om en anfader. Förväntat: gårdsman i Horsaryd, död i kolera 25 september 1834 – en av 38 i socknen den hösten. Födelse och vigsel finns inte i registret, så nästa steg är husförhörslängden. Poängen: AI:n ger sammanhang och säger ärligt vad som saknas.</a:t>
            </a:r>
          </a:p>
          <a:p/>
          <a:p>
            <a:r>
              <a:rPr lang="sv-SE"/>
              <a:t>Forskaren frågar om samma epidemi i handskriften. Förväntat: smittan som hot, som dödsorsak och fångar på Stockholms kolerakyrkogårdar 1835 – med länk till varje sida. Följdfrågan ger AI:ns egna förslag, inte fakta i källan – ett bra tillfälle att prata källkritik.</a:t>
            </a:r>
          </a:p>
          <a:p/>
          <a:p>
            <a:r>
              <a:rPr lang="sv-SE"/>
              <a:t>Arkivarien vill veta var samiskt material finns. AI:n söker på källornas historiska termer, som ”lappmark” och ”lappman” – inte för att det är rätt benämning i dag, utan för att det är så materialet är beskrivet. Förväntat: lappmarkernas domböcker kring 1700, Svea hovrätt, bergsväsendet och länets kungörelser.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sv-SE"/>
              <a:t>Att koppla upp sig ser likadant ut i alla AI-assistenter som stöder MCP – Claude, ChatGPT, Mistral och flera andra. Det enda man behöver är adressen högst upp. RA-MCP kräver ingen inloggning, servern är öppen, men man behöver ett konto i sin AI-assistent, och ofta en betald plan.</a:t>
            </a:r>
          </a:p>
          <a:p/>
          <a:p>
            <a:r>
              <a:rPr lang="sv-SE"/>
              <a:t>Tre steg: gå till inställningarna och leta efter Anslutningar, Connectors eller Integrationer – namnet skiljer sig lite mellan tjänsterna. Välj att lägga till en anpassad anslutning, kalla den RA-MCP och klistra in adressen. Slå sedan på den i chatten. Det tar en halv minut.</a:t>
            </a:r>
          </a:p>
          <a:p/>
          <a:p>
            <a:r>
              <a:rPr lang="sv-SE"/>
              <a:t>Testa med en enkel fråga, till exempel ”Vem var Marie Louise Gagner?”. Får ni ett svar med en länk till Svenskt biografiskt lexikon är ni uppkopplade.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sv-SE"/>
              <a:t>RA-MCP är en beta, från september året ut. Den är begränsad, har buggar, och assistenterna kan läsa och citera fel. Den körs dessutom på infrastruktur som inte är vår egen – därför är det ett test och inte en tjänst. Poängen är att testa tidigt: det är det billigaste sättet att hitta vad som inte fungerar och det snabbaste sättet att lära oss vad som är värt att bygga.</a:t>
            </a:r>
          </a:p>
          <a:p/>
          <a:p>
            <a:r>
              <a:rPr lang="sv-SE"/>
              <a:t>Var ärlig om gränserna, det bygger förtroende. Transkribering på begäran och exporten till Label Studio är avstängda, och alla källor är inte kopplade. Viktigast: ett tomt svar betyder inte att något saknas – lär publiken att fråga ”var har du sökt?” och att kontrollera mot originalet.</a:t>
            </a:r>
          </a:p>
          <a:p/>
          <a:p>
            <a:r>
              <a:rPr lang="sv-SE"/>
              <a:t>Fel och önskemål skickar man till AI@riksarkivet.se. Har man testat, fyll i enkäten – den styr vad vi bygger härnäst. Dokumentationen finns på GitHub.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tartsida plommon">
    <p:bg>
      <p:bgPr>
        <a:solidFill>
          <a:schemeClr val="accent3"/>
        </a:solidFill>
        <a:effectLst/>
      </p:bgPr>
    </p:bg>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710453" y="1581150"/>
            <a:ext cx="9144000" cy="1727387"/>
          </a:xfrm>
        </p:spPr>
        <p:txBody>
          <a:bodyPr anchor="b" anchorCtr="0"/>
          <a:lstStyle>
            <a:lvl1pPr algn="l">
              <a:defRPr lang="sv-SE" sz="4800">
                <a:solidFill>
                  <a:schemeClr val="bg2"/>
                </a:solidFill>
              </a:defRPr>
            </a:lvl1pPr>
          </a:lstStyle>
          <a:p>
            <a:r>
              <a:rPr lang="sv-SE" dirty="0"/>
              <a:t>Titel på presentationen</a:t>
            </a:r>
            <a:br>
              <a:rPr lang="sv-SE" dirty="0"/>
            </a:br>
            <a:r>
              <a:rPr lang="sv-SE" dirty="0"/>
              <a:t>eller på kapitlet</a:t>
            </a:r>
          </a:p>
        </p:txBody>
      </p:sp>
      <p:sp>
        <p:nvSpPr>
          <p:cNvPr id="3" name="Underrubrik 2"/>
          <p:cNvSpPr>
            <a:spLocks noGrp="1"/>
          </p:cNvSpPr>
          <p:nvPr>
            <p:ph type="subTitle" idx="1" hasCustomPrompt="1"/>
          </p:nvPr>
        </p:nvSpPr>
        <p:spPr>
          <a:xfrm>
            <a:off x="710453" y="3429000"/>
            <a:ext cx="9144000" cy="1655762"/>
          </a:xfrm>
        </p:spPr>
        <p:txBody>
          <a:bodyPr>
            <a:noAutofit/>
          </a:bodyPr>
          <a:lstStyle>
            <a:lvl1pPr marL="0" indent="0" algn="l">
              <a:buNone/>
              <a:defRPr lang="sv-SE" sz="2400">
                <a:solidFill>
                  <a:schemeClr val="bg2"/>
                </a:solidFill>
              </a:defRPr>
            </a:lvl1pPr>
            <a:lvl2pPr marL="457200" indent="0" algn="ctr">
              <a:buNone/>
              <a:defRPr lang="sv-SE" sz="2000"/>
            </a:lvl2pPr>
            <a:lvl3pPr marL="914400" indent="0" algn="ctr">
              <a:buNone/>
              <a:defRPr lang="sv-SE" sz="1800"/>
            </a:lvl3pPr>
            <a:lvl4pPr marL="1371600" indent="0" algn="ctr">
              <a:buNone/>
              <a:defRPr lang="sv-SE" sz="1600"/>
            </a:lvl4pPr>
            <a:lvl5pPr marL="1828800" indent="0" algn="ctr">
              <a:buNone/>
              <a:defRPr lang="sv-SE" sz="1600"/>
            </a:lvl5pPr>
            <a:lvl6pPr marL="2286000" indent="0" algn="ctr">
              <a:buNone/>
              <a:defRPr lang="sv-SE" sz="1600"/>
            </a:lvl6pPr>
            <a:lvl7pPr marL="2743200" indent="0" algn="ctr">
              <a:buNone/>
              <a:defRPr lang="sv-SE" sz="1600"/>
            </a:lvl7pPr>
            <a:lvl8pPr marL="3200400" indent="0" algn="ctr">
              <a:buNone/>
              <a:defRPr lang="sv-SE" sz="1600"/>
            </a:lvl8pPr>
            <a:lvl9pPr marL="3657600" indent="0" algn="ctr">
              <a:buNone/>
              <a:defRPr lang="sv-SE" sz="1600"/>
            </a:lvl9pPr>
          </a:lstStyle>
          <a:p>
            <a:r>
              <a:rPr lang="sv-SE" dirty="0"/>
              <a:t>Namn, organisation, datum</a:t>
            </a:r>
          </a:p>
        </p:txBody>
      </p:sp>
    </p:spTree>
    <p:extLst>
      <p:ext uri="{BB962C8B-B14F-4D97-AF65-F5344CB8AC3E}">
        <p14:creationId xmlns:p14="http://schemas.microsoft.com/office/powerpoint/2010/main" val="923381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Startsida ljusrosa">
    <p:bg>
      <p:bgPr>
        <a:solidFill>
          <a:schemeClr val="accent4"/>
        </a:solidFill>
        <a:effectLst/>
      </p:bgPr>
    </p:bg>
    <p:spTree>
      <p:nvGrpSpPr>
        <p:cNvPr id="1" name=""/>
        <p:cNvGrpSpPr/>
        <p:nvPr/>
      </p:nvGrpSpPr>
      <p:grpSpPr>
        <a:xfrm>
          <a:off x="0" y="0"/>
          <a:ext cx="0" cy="0"/>
          <a:chOff x="0" y="0"/>
          <a:chExt cx="0" cy="0"/>
        </a:xfrm>
      </p:grpSpPr>
      <p:sp>
        <p:nvSpPr>
          <p:cNvPr id="2" name="Rubrik 1"/>
          <p:cNvSpPr>
            <a:spLocks noGrp="1"/>
          </p:cNvSpPr>
          <p:nvPr>
            <p:ph type="ctrTitle" hasCustomPrompt="1"/>
          </p:nvPr>
        </p:nvSpPr>
        <p:spPr>
          <a:xfrm>
            <a:off x="710453" y="1581150"/>
            <a:ext cx="9144000" cy="1727387"/>
          </a:xfrm>
        </p:spPr>
        <p:txBody>
          <a:bodyPr anchor="b" anchorCtr="0"/>
          <a:lstStyle>
            <a:lvl1pPr algn="l">
              <a:defRPr lang="sv-SE" sz="4800">
                <a:solidFill>
                  <a:schemeClr val="tx1"/>
                </a:solidFill>
              </a:defRPr>
            </a:lvl1pPr>
          </a:lstStyle>
          <a:p>
            <a:r>
              <a:rPr lang="sv-SE" dirty="0"/>
              <a:t>Titel på presentationen</a:t>
            </a:r>
            <a:br>
              <a:rPr lang="sv-SE" dirty="0"/>
            </a:br>
            <a:r>
              <a:rPr lang="sv-SE" dirty="0"/>
              <a:t>eller på kapitlet</a:t>
            </a:r>
          </a:p>
        </p:txBody>
      </p:sp>
      <p:sp>
        <p:nvSpPr>
          <p:cNvPr id="3" name="Underrubrik 2"/>
          <p:cNvSpPr>
            <a:spLocks noGrp="1"/>
          </p:cNvSpPr>
          <p:nvPr>
            <p:ph type="subTitle" idx="1" hasCustomPrompt="1"/>
          </p:nvPr>
        </p:nvSpPr>
        <p:spPr>
          <a:xfrm>
            <a:off x="710453" y="3429000"/>
            <a:ext cx="9144000" cy="1655762"/>
          </a:xfrm>
        </p:spPr>
        <p:txBody>
          <a:bodyPr>
            <a:noAutofit/>
          </a:bodyPr>
          <a:lstStyle>
            <a:lvl1pPr marL="0" indent="0" algn="l">
              <a:buNone/>
              <a:defRPr lang="sv-SE" sz="2400">
                <a:solidFill>
                  <a:schemeClr val="tx1"/>
                </a:solidFill>
              </a:defRPr>
            </a:lvl1pPr>
            <a:lvl2pPr marL="457200" indent="0" algn="ctr">
              <a:buNone/>
              <a:defRPr lang="sv-SE" sz="2000"/>
            </a:lvl2pPr>
            <a:lvl3pPr marL="914400" indent="0" algn="ctr">
              <a:buNone/>
              <a:defRPr lang="sv-SE" sz="1800"/>
            </a:lvl3pPr>
            <a:lvl4pPr marL="1371600" indent="0" algn="ctr">
              <a:buNone/>
              <a:defRPr lang="sv-SE" sz="1600"/>
            </a:lvl4pPr>
            <a:lvl5pPr marL="1828800" indent="0" algn="ctr">
              <a:buNone/>
              <a:defRPr lang="sv-SE" sz="1600"/>
            </a:lvl5pPr>
            <a:lvl6pPr marL="2286000" indent="0" algn="ctr">
              <a:buNone/>
              <a:defRPr lang="sv-SE" sz="1600"/>
            </a:lvl6pPr>
            <a:lvl7pPr marL="2743200" indent="0" algn="ctr">
              <a:buNone/>
              <a:defRPr lang="sv-SE" sz="1600"/>
            </a:lvl7pPr>
            <a:lvl8pPr marL="3200400" indent="0" algn="ctr">
              <a:buNone/>
              <a:defRPr lang="sv-SE" sz="1600"/>
            </a:lvl8pPr>
            <a:lvl9pPr marL="3657600" indent="0" algn="ctr">
              <a:buNone/>
              <a:defRPr lang="sv-SE" sz="1600"/>
            </a:lvl9pPr>
          </a:lstStyle>
          <a:p>
            <a:r>
              <a:rPr lang="sv-SE" dirty="0"/>
              <a:t>Namn, organisation, datum</a:t>
            </a:r>
          </a:p>
        </p:txBody>
      </p:sp>
    </p:spTree>
    <p:extLst>
      <p:ext uri="{BB962C8B-B14F-4D97-AF65-F5344CB8AC3E}">
        <p14:creationId xmlns:p14="http://schemas.microsoft.com/office/powerpoint/2010/main" val="3652828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lang="sv-SE"/>
            </a:lvl1pPr>
          </a:lstStyle>
          <a:p>
            <a:r>
              <a:rPr lang="sv-SE" dirty="0"/>
              <a:t>Klicka för att lägga till rubrik</a:t>
            </a:r>
          </a:p>
        </p:txBody>
      </p:sp>
      <p:sp>
        <p:nvSpPr>
          <p:cNvPr id="7" name="Platshållare för innehåll 6"/>
          <p:cNvSpPr>
            <a:spLocks noGrp="1"/>
          </p:cNvSpPr>
          <p:nvPr>
            <p:ph sz="quarter" idx="10" hasCustomPrompt="1"/>
          </p:nvPr>
        </p:nvSpPr>
        <p:spPr>
          <a:xfrm>
            <a:off x="347384" y="1228726"/>
            <a:ext cx="11497232" cy="4486274"/>
          </a:xfrm>
        </p:spPr>
        <p:txBody>
          <a:bodyPr/>
          <a:lstStyle>
            <a:lvl1pPr>
              <a:defRPr lang="sv-SE"/>
            </a:lvl1pPr>
          </a:lstStyle>
          <a:p>
            <a:pPr lvl="0"/>
            <a:r>
              <a:rPr lang="sv-SE" dirty="0"/>
              <a:t>Platshållare för innehåll</a:t>
            </a:r>
          </a:p>
        </p:txBody>
      </p:sp>
    </p:spTree>
    <p:extLst>
      <p:ext uri="{BB962C8B-B14F-4D97-AF65-F5344CB8AC3E}">
        <p14:creationId xmlns:p14="http://schemas.microsoft.com/office/powerpoint/2010/main" val="3912841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lang="sv-SE"/>
            </a:lvl1pPr>
          </a:lstStyle>
          <a:p>
            <a:r>
              <a:rPr lang="sv-SE" dirty="0"/>
              <a:t>Klicka för att lägga till rubrik</a:t>
            </a:r>
          </a:p>
        </p:txBody>
      </p:sp>
    </p:spTree>
    <p:extLst>
      <p:ext uri="{BB962C8B-B14F-4D97-AF65-F5344CB8AC3E}">
        <p14:creationId xmlns:p14="http://schemas.microsoft.com/office/powerpoint/2010/main" val="2920729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med sidfot">
    <p:spTree>
      <p:nvGrpSpPr>
        <p:cNvPr id="1" name=""/>
        <p:cNvGrpSpPr/>
        <p:nvPr/>
      </p:nvGrpSpPr>
      <p:grpSpPr>
        <a:xfrm>
          <a:off x="0" y="0"/>
          <a:ext cx="0" cy="0"/>
          <a:chOff x="0" y="0"/>
          <a:chExt cx="0" cy="0"/>
        </a:xfrm>
      </p:grpSpPr>
      <p:sp>
        <p:nvSpPr>
          <p:cNvPr id="4" name="Platshållare för bild 3"/>
          <p:cNvSpPr>
            <a:spLocks noGrp="1" noChangeAspect="1"/>
          </p:cNvSpPr>
          <p:nvPr>
            <p:ph type="pic" sz="quarter" idx="10" hasCustomPrompt="1"/>
          </p:nvPr>
        </p:nvSpPr>
        <p:spPr>
          <a:xfrm>
            <a:off x="0" y="0"/>
            <a:ext cx="12192000" cy="6056313"/>
          </a:xfrm>
        </p:spPr>
        <p:txBody>
          <a:bodyPr anchor="ctr" anchorCtr="0"/>
          <a:lstStyle>
            <a:lvl1pPr marL="0" indent="0" algn="ctr">
              <a:buNone/>
              <a:defRPr lang="sv-SE"/>
            </a:lvl1pPr>
          </a:lstStyle>
          <a:p>
            <a:r>
              <a:rPr lang="sv-SE" dirty="0"/>
              <a:t>Infoga bild här</a:t>
            </a:r>
          </a:p>
        </p:txBody>
      </p:sp>
    </p:spTree>
    <p:extLst>
      <p:ext uri="{BB962C8B-B14F-4D97-AF65-F5344CB8AC3E}">
        <p14:creationId xmlns:p14="http://schemas.microsoft.com/office/powerpoint/2010/main" val="5506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ld – utfallande">
    <p:spTree>
      <p:nvGrpSpPr>
        <p:cNvPr id="1" name=""/>
        <p:cNvGrpSpPr/>
        <p:nvPr/>
      </p:nvGrpSpPr>
      <p:grpSpPr>
        <a:xfrm>
          <a:off x="0" y="0"/>
          <a:ext cx="0" cy="0"/>
          <a:chOff x="0" y="0"/>
          <a:chExt cx="0" cy="0"/>
        </a:xfrm>
      </p:grpSpPr>
      <p:sp>
        <p:nvSpPr>
          <p:cNvPr id="4" name="Platshållare för bild 3"/>
          <p:cNvSpPr>
            <a:spLocks noGrp="1" noChangeAspect="1"/>
          </p:cNvSpPr>
          <p:nvPr>
            <p:ph type="pic" sz="quarter" idx="10" hasCustomPrompt="1"/>
          </p:nvPr>
        </p:nvSpPr>
        <p:spPr>
          <a:xfrm>
            <a:off x="-1" y="0"/>
            <a:ext cx="12192002" cy="6858000"/>
          </a:xfrm>
        </p:spPr>
        <p:txBody>
          <a:bodyPr anchor="ctr" anchorCtr="0"/>
          <a:lstStyle>
            <a:lvl1pPr marL="0" indent="0" algn="ctr">
              <a:buNone/>
              <a:defRPr lang="sv-SE"/>
            </a:lvl1pPr>
          </a:lstStyle>
          <a:p>
            <a:r>
              <a:rPr lang="sv-SE" dirty="0"/>
              <a:t>Infoga bild här</a:t>
            </a:r>
          </a:p>
        </p:txBody>
      </p:sp>
    </p:spTree>
    <p:extLst>
      <p:ext uri="{BB962C8B-B14F-4D97-AF65-F5344CB8AC3E}">
        <p14:creationId xmlns:p14="http://schemas.microsoft.com/office/powerpoint/2010/main" val="206642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ubrik och innehåll i tvåspalt">
    <p:spTree>
      <p:nvGrpSpPr>
        <p:cNvPr id="1" name=""/>
        <p:cNvGrpSpPr/>
        <p:nvPr/>
      </p:nvGrpSpPr>
      <p:grpSpPr>
        <a:xfrm>
          <a:off x="0" y="0"/>
          <a:ext cx="0" cy="0"/>
          <a:chOff x="0" y="0"/>
          <a:chExt cx="0" cy="0"/>
        </a:xfrm>
      </p:grpSpPr>
      <p:sp>
        <p:nvSpPr>
          <p:cNvPr id="2" name="Rubrik 1"/>
          <p:cNvSpPr>
            <a:spLocks noGrp="1"/>
          </p:cNvSpPr>
          <p:nvPr>
            <p:ph type="title" hasCustomPrompt="1"/>
          </p:nvPr>
        </p:nvSpPr>
        <p:spPr/>
        <p:txBody>
          <a:bodyPr/>
          <a:lstStyle>
            <a:lvl1pPr>
              <a:defRPr lang="sv-SE"/>
            </a:lvl1pPr>
          </a:lstStyle>
          <a:p>
            <a:r>
              <a:rPr lang="sv-SE" dirty="0"/>
              <a:t>Klicka för att lägga till rubrik</a:t>
            </a:r>
          </a:p>
        </p:txBody>
      </p:sp>
      <p:sp>
        <p:nvSpPr>
          <p:cNvPr id="5" name="Platshållare för innehåll 2"/>
          <p:cNvSpPr>
            <a:spLocks noGrp="1"/>
          </p:cNvSpPr>
          <p:nvPr>
            <p:ph sz="half" idx="1" hasCustomPrompt="1"/>
          </p:nvPr>
        </p:nvSpPr>
        <p:spPr>
          <a:xfrm>
            <a:off x="347384" y="1216800"/>
            <a:ext cx="5580000" cy="4489200"/>
          </a:xfrm>
        </p:spPr>
        <p:txBody>
          <a:bodyPr/>
          <a:lstStyle>
            <a:lvl1pPr>
              <a:defRPr lang="sv-SE"/>
            </a:lvl1pPr>
          </a:lstStyle>
          <a:p>
            <a:pPr lvl="0"/>
            <a:r>
              <a:rPr lang="sv-SE" dirty="0"/>
              <a:t>Platshållare för innehåll</a:t>
            </a:r>
          </a:p>
        </p:txBody>
      </p:sp>
      <p:sp>
        <p:nvSpPr>
          <p:cNvPr id="6" name="Platshållare för innehåll 2"/>
          <p:cNvSpPr>
            <a:spLocks noGrp="1"/>
          </p:cNvSpPr>
          <p:nvPr>
            <p:ph sz="half" idx="10" hasCustomPrompt="1"/>
          </p:nvPr>
        </p:nvSpPr>
        <p:spPr>
          <a:xfrm>
            <a:off x="6264616" y="1226937"/>
            <a:ext cx="5580000" cy="4489200"/>
          </a:xfrm>
        </p:spPr>
        <p:txBody>
          <a:bodyPr/>
          <a:lstStyle>
            <a:lvl1pPr>
              <a:defRPr lang="sv-SE"/>
            </a:lvl1pPr>
          </a:lstStyle>
          <a:p>
            <a:pPr lvl="0"/>
            <a:r>
              <a:rPr lang="sv-SE" dirty="0"/>
              <a:t>Platshållare för innehåll</a:t>
            </a:r>
          </a:p>
        </p:txBody>
      </p:sp>
    </p:spTree>
    <p:extLst>
      <p:ext uri="{BB962C8B-B14F-4D97-AF65-F5344CB8AC3E}">
        <p14:creationId xmlns:p14="http://schemas.microsoft.com/office/powerpoint/2010/main" val="4755339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Platshållare för rubrik 1"/>
          <p:cNvSpPr>
            <a:spLocks noGrp="1"/>
          </p:cNvSpPr>
          <p:nvPr>
            <p:ph type="title"/>
          </p:nvPr>
        </p:nvSpPr>
        <p:spPr>
          <a:xfrm>
            <a:off x="347384" y="343600"/>
            <a:ext cx="11497232" cy="530460"/>
          </a:xfrm>
          <a:prstGeom prst="rect">
            <a:avLst/>
          </a:prstGeom>
        </p:spPr>
        <p:txBody>
          <a:bodyPr vert="horz" lIns="91440" tIns="45720" rIns="91440" bIns="45720" rtlCol="0" anchor="t" anchorCtr="0">
            <a:noAutofit/>
          </a:bodyPr>
          <a:lstStyle/>
          <a:p>
            <a:r>
              <a:rPr lang="sv-SE" dirty="0"/>
              <a:t>Klicka för att lägga till rubrik</a:t>
            </a:r>
          </a:p>
        </p:txBody>
      </p:sp>
      <p:sp>
        <p:nvSpPr>
          <p:cNvPr id="3" name="Platshållare för text 2"/>
          <p:cNvSpPr>
            <a:spLocks noGrp="1"/>
          </p:cNvSpPr>
          <p:nvPr>
            <p:ph type="body" idx="1"/>
          </p:nvPr>
        </p:nvSpPr>
        <p:spPr>
          <a:xfrm>
            <a:off x="347383" y="1225086"/>
            <a:ext cx="11497233" cy="4488512"/>
          </a:xfrm>
          <a:prstGeom prst="rect">
            <a:avLst/>
          </a:prstGeom>
        </p:spPr>
        <p:txBody>
          <a:bodyPr vert="horz" lIns="91440" tIns="45720" rIns="91440" bIns="45720" rtlCol="0">
            <a:noAutofit/>
          </a:bodyPr>
          <a:lstStyle/>
          <a:p>
            <a:pPr lvl="0"/>
            <a:r>
              <a:rPr lang="sv-SE" dirty="0"/>
              <a:t>Skriv text här</a:t>
            </a:r>
          </a:p>
        </p:txBody>
      </p:sp>
      <p:sp>
        <p:nvSpPr>
          <p:cNvPr id="7" name="Rektangel 6"/>
          <p:cNvSpPr>
            <a:spLocks noChangeAspect="1"/>
          </p:cNvSpPr>
          <p:nvPr userDrawn="1"/>
        </p:nvSpPr>
        <p:spPr>
          <a:xfrm>
            <a:off x="1" y="6078374"/>
            <a:ext cx="12193200" cy="79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8" name="Bildobjekt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0078570" y="6213966"/>
            <a:ext cx="1766047" cy="494691"/>
          </a:xfrm>
          <a:prstGeom prst="rect">
            <a:avLst/>
          </a:prstGeom>
        </p:spPr>
      </p:pic>
    </p:spTree>
    <p:extLst>
      <p:ext uri="{BB962C8B-B14F-4D97-AF65-F5344CB8AC3E}">
        <p14:creationId xmlns:p14="http://schemas.microsoft.com/office/powerpoint/2010/main" val="2157944417"/>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50" r:id="rId3"/>
    <p:sldLayoutId id="2147483656" r:id="rId4"/>
    <p:sldLayoutId id="2147483657" r:id="rId5"/>
    <p:sldLayoutId id="2147483658" r:id="rId6"/>
    <p:sldLayoutId id="2147483652" r:id="rId7"/>
  </p:sldLayoutIdLst>
  <p:txStyles>
    <p:titleStyle>
      <a:lvl1pPr algn="l" defTabSz="914400" rtl="0" eaLnBrk="1" latinLnBrk="0" hangingPunct="1">
        <a:lnSpc>
          <a:spcPct val="90000"/>
        </a:lnSpc>
        <a:spcBef>
          <a:spcPct val="0"/>
        </a:spcBef>
        <a:buNone/>
        <a:defRPr lang="sv-SE" sz="4400" kern="1200">
          <a:solidFill>
            <a:schemeClr val="tx1"/>
          </a:solidFill>
          <a:latin typeface="Open Sans" pitchFamily="2" charset="0"/>
          <a:ea typeface="Open Sans" pitchFamily="2" charset="0"/>
          <a:cs typeface="Open Sans" pitchFamily="2"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lang="sv-SE" sz="2400" kern="1200">
          <a:solidFill>
            <a:schemeClr val="tx1"/>
          </a:solidFill>
          <a:latin typeface="Open Sans" pitchFamily="2" charset="0"/>
          <a:ea typeface="Open Sans" pitchFamily="2" charset="0"/>
          <a:cs typeface="Open Sans" pitchFamily="2" charset="0"/>
        </a:defRPr>
      </a:lvl1pPr>
      <a:lvl2pPr marL="457200" indent="0" algn="l" defTabSz="914400" rtl="0" eaLnBrk="1" latinLnBrk="0" hangingPunct="1">
        <a:lnSpc>
          <a:spcPct val="90000"/>
        </a:lnSpc>
        <a:spcBef>
          <a:spcPts val="500"/>
        </a:spcBef>
        <a:buFont typeface="Arial" panose="020B0604020202020204" pitchFamily="34" charset="0"/>
        <a:buNone/>
        <a:defRPr lang="sv-SE" sz="2000" kern="1200">
          <a:solidFill>
            <a:schemeClr val="tx1"/>
          </a:solidFill>
          <a:latin typeface="Open Sans" pitchFamily="2" charset="0"/>
          <a:ea typeface="Open Sans" pitchFamily="2" charset="0"/>
          <a:cs typeface="Open Sans" pitchFamily="2" charset="0"/>
        </a:defRPr>
      </a:lvl2pPr>
      <a:lvl3pPr marL="914400" indent="0" algn="l" defTabSz="914400" rtl="0" eaLnBrk="1" latinLnBrk="0" hangingPunct="1">
        <a:lnSpc>
          <a:spcPct val="90000"/>
        </a:lnSpc>
        <a:spcBef>
          <a:spcPts val="500"/>
        </a:spcBef>
        <a:buFont typeface="Arial" panose="020B0604020202020204" pitchFamily="34" charset="0"/>
        <a:buNone/>
        <a:defRPr lang="sv-SE" sz="1800" kern="1200">
          <a:solidFill>
            <a:schemeClr val="tx1"/>
          </a:solidFill>
          <a:latin typeface="Open Sans" pitchFamily="2" charset="0"/>
          <a:ea typeface="Open Sans" pitchFamily="2" charset="0"/>
          <a:cs typeface="Open Sans" pitchFamily="2" charset="0"/>
        </a:defRPr>
      </a:lvl3pPr>
      <a:lvl4pPr marL="1371600" indent="0" algn="l" defTabSz="914400" rtl="0" eaLnBrk="1" latinLnBrk="0" hangingPunct="1">
        <a:lnSpc>
          <a:spcPct val="90000"/>
        </a:lnSpc>
        <a:spcBef>
          <a:spcPts val="500"/>
        </a:spcBef>
        <a:buFont typeface="Arial" panose="020B0604020202020204" pitchFamily="34" charset="0"/>
        <a:buNone/>
        <a:defRPr lang="sv-SE" sz="1600" kern="1200">
          <a:solidFill>
            <a:schemeClr val="tx1"/>
          </a:solidFill>
          <a:latin typeface="Open Sans" pitchFamily="2" charset="0"/>
          <a:ea typeface="Open Sans" pitchFamily="2" charset="0"/>
          <a:cs typeface="Open Sans" pitchFamily="2" charset="0"/>
        </a:defRPr>
      </a:lvl4pPr>
      <a:lvl5pPr marL="1828800" indent="0" algn="l" defTabSz="914400" rtl="0" eaLnBrk="1" latinLnBrk="0" hangingPunct="1">
        <a:lnSpc>
          <a:spcPct val="90000"/>
        </a:lnSpc>
        <a:spcBef>
          <a:spcPts val="500"/>
        </a:spcBef>
        <a:buFont typeface="Arial" panose="020B0604020202020204" pitchFamily="34" charset="0"/>
        <a:buNone/>
        <a:defRPr lang="sv-SE" sz="1400" kern="120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sv-SE" sz="1800" kern="1200">
          <a:solidFill>
            <a:schemeClr val="tx1"/>
          </a:solidFill>
          <a:latin typeface="+mn-lt"/>
          <a:ea typeface="+mn-ea"/>
          <a:cs typeface="+mn-cs"/>
        </a:defRPr>
      </a:lvl9pPr>
    </p:bodyStyle>
    <p:otherStyle>
      <a:defPPr>
        <a:defRPr lang="sv-SE"/>
      </a:defPPr>
      <a:lvl1pPr marL="0" algn="l" defTabSz="914400" rtl="0" eaLnBrk="1" latinLnBrk="0" hangingPunct="1">
        <a:defRPr lang="sv-SE" sz="1800" kern="1200">
          <a:solidFill>
            <a:schemeClr val="tx1"/>
          </a:solidFill>
          <a:latin typeface="+mn-lt"/>
          <a:ea typeface="+mn-ea"/>
          <a:cs typeface="+mn-cs"/>
        </a:defRPr>
      </a:lvl1pPr>
      <a:lvl2pPr marL="457200" algn="l" defTabSz="914400" rtl="0" eaLnBrk="1" latinLnBrk="0" hangingPunct="1">
        <a:defRPr lang="sv-SE" sz="1800" kern="1200">
          <a:solidFill>
            <a:schemeClr val="tx1"/>
          </a:solidFill>
          <a:latin typeface="+mn-lt"/>
          <a:ea typeface="+mn-ea"/>
          <a:cs typeface="+mn-cs"/>
        </a:defRPr>
      </a:lvl2pPr>
      <a:lvl3pPr marL="914400" algn="l" defTabSz="914400" rtl="0" eaLnBrk="1" latinLnBrk="0" hangingPunct="1">
        <a:defRPr lang="sv-SE" sz="1800" kern="1200">
          <a:solidFill>
            <a:schemeClr val="tx1"/>
          </a:solidFill>
          <a:latin typeface="+mn-lt"/>
          <a:ea typeface="+mn-ea"/>
          <a:cs typeface="+mn-cs"/>
        </a:defRPr>
      </a:lvl3pPr>
      <a:lvl4pPr marL="1371600" algn="l" defTabSz="914400" rtl="0" eaLnBrk="1" latinLnBrk="0" hangingPunct="1">
        <a:defRPr lang="sv-SE" sz="1800" kern="1200">
          <a:solidFill>
            <a:schemeClr val="tx1"/>
          </a:solidFill>
          <a:latin typeface="+mn-lt"/>
          <a:ea typeface="+mn-ea"/>
          <a:cs typeface="+mn-cs"/>
        </a:defRPr>
      </a:lvl4pPr>
      <a:lvl5pPr marL="1828800" algn="l" defTabSz="914400" rtl="0" eaLnBrk="1" latinLnBrk="0" hangingPunct="1">
        <a:defRPr lang="sv-SE" sz="1800" kern="1200">
          <a:solidFill>
            <a:schemeClr val="tx1"/>
          </a:solidFill>
          <a:latin typeface="+mn-lt"/>
          <a:ea typeface="+mn-ea"/>
          <a:cs typeface="+mn-cs"/>
        </a:defRPr>
      </a:lvl5pPr>
      <a:lvl6pPr marL="2286000" algn="l" defTabSz="914400" rtl="0" eaLnBrk="1" latinLnBrk="0" hangingPunct="1">
        <a:defRPr lang="sv-SE" sz="1800" kern="1200">
          <a:solidFill>
            <a:schemeClr val="tx1"/>
          </a:solidFill>
          <a:latin typeface="+mn-lt"/>
          <a:ea typeface="+mn-ea"/>
          <a:cs typeface="+mn-cs"/>
        </a:defRPr>
      </a:lvl6pPr>
      <a:lvl7pPr marL="2743200" algn="l" defTabSz="914400" rtl="0" eaLnBrk="1" latinLnBrk="0" hangingPunct="1">
        <a:defRPr lang="sv-SE" sz="1800" kern="1200">
          <a:solidFill>
            <a:schemeClr val="tx1"/>
          </a:solidFill>
          <a:latin typeface="+mn-lt"/>
          <a:ea typeface="+mn-ea"/>
          <a:cs typeface="+mn-cs"/>
        </a:defRPr>
      </a:lvl7pPr>
      <a:lvl8pPr marL="3200400" algn="l" defTabSz="914400" rtl="0" eaLnBrk="1" latinLnBrk="0" hangingPunct="1">
        <a:defRPr lang="sv-SE" sz="1800" kern="1200">
          <a:solidFill>
            <a:schemeClr val="tx1"/>
          </a:solidFill>
          <a:latin typeface="+mn-lt"/>
          <a:ea typeface="+mn-ea"/>
          <a:cs typeface="+mn-cs"/>
        </a:defRPr>
      </a:lvl8pPr>
      <a:lvl9pPr marL="3657600" algn="l" defTabSz="914400" rtl="0" eaLnBrk="1" latinLnBrk="0" hangingPunct="1">
        <a:defRPr lang="sv-SE"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hyperlink" Target="mailto:AI@riksarkivet.se" TargetMode="External"/><Relationship Id="rId6" Type="http://schemas.openxmlformats.org/officeDocument/2006/relationships/hyperlink" Target="https://members.paloma.se/Surveys/Pass/ViewSurvey.aspx?survey=57dab472-66f9-425f-883b-3ca43a947dbd" TargetMode="External"/><Relationship Id="rId7" Type="http://schemas.openxmlformats.org/officeDocument/2006/relationships/hyperlink" Target="https://ai-riksarkivet.github.io/ra-mcp/" TargetMode="External"/><Relationship Id="rId8"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sv-SE"/>
              <a:t>Vad är RA-MCP?</a:t>
            </a:r>
          </a:p>
        </p:txBody>
      </p:sp>
      <p:sp>
        <p:nvSpPr>
          <p:cNvPr id="3" name="TextBox 2"/>
          <p:cNvSpPr txBox="1"/>
          <p:nvPr/>
        </p:nvSpPr>
        <p:spPr>
          <a:xfrm>
            <a:off x="347472" y="1097280"/>
            <a:ext cx="11430000" cy="914400"/>
          </a:xfrm>
          <a:prstGeom prst="rect">
            <a:avLst/>
          </a:prstGeom>
          <a:noFill/>
        </p:spPr>
        <p:txBody>
          <a:bodyPr wrap="square" anchor="t" lIns="45720" rIns="45720">
            <a:spAutoFit/>
          </a:bodyPr>
          <a:lstStyle/>
          <a:p>
            <a:pPr algn="l">
              <a:spcAft>
                <a:spcPts val="600"/>
              </a:spcAft>
            </a:pPr>
            <a:r>
              <a:rPr sz="1700" b="1" i="0" lang="sv-SE">
                <a:solidFill>
                  <a:srgbClr val="004460"/>
                </a:solidFill>
              </a:rPr>
              <a:t>MCP (Model Context Protocol) </a:t>
            </a:r>
            <a:r>
              <a:rPr sz="1700" b="0" i="0" lang="sv-SE">
                <a:solidFill>
                  <a:srgbClr val="222222"/>
                </a:solidFill>
              </a:rPr>
              <a:t>är en öppen standard som låter en AI-assistent använda externa verktyg och datakällor.</a:t>
            </a:r>
          </a:p>
          <a:p>
            <a:pPr algn="l">
              <a:spcAft>
                <a:spcPts val="600"/>
              </a:spcAft>
            </a:pPr>
            <a:r>
              <a:rPr sz="1700" b="1" i="0" lang="sv-SE">
                <a:solidFill>
                  <a:srgbClr val="B44B6F"/>
                </a:solidFill>
              </a:rPr>
              <a:t>RA-MCP </a:t>
            </a:r>
            <a:r>
              <a:rPr sz="1700" b="0" i="0" lang="sv-SE">
                <a:solidFill>
                  <a:srgbClr val="222222"/>
                </a:solidFill>
              </a:rPr>
              <a:t>gör Riksarkivets källor till sådana verktyg – fråga på valfritt språk i t.ex. Claude, ChatGPT eller Mistral.</a:t>
            </a:r>
          </a:p>
        </p:txBody>
      </p:sp>
      <p:sp>
        <p:nvSpPr>
          <p:cNvPr id="4" name="Rounded Rectangle 3"/>
          <p:cNvSpPr/>
          <p:nvPr/>
        </p:nvSpPr>
        <p:spPr>
          <a:xfrm>
            <a:off x="347472" y="2331720"/>
            <a:ext cx="2514600"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606040"/>
            <a:ext cx="822960" cy="8229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er_w.png"/>
          <p:cNvPicPr>
            <a:picLocks noChangeAspect="1"/>
          </p:cNvPicPr>
          <p:nvPr/>
        </p:nvPicPr>
        <p:blipFill>
          <a:blip r:embed="rId2"/>
          <a:stretch>
            <a:fillRect/>
          </a:stretch>
        </p:blipFill>
        <p:spPr>
          <a:xfrm>
            <a:off x="1394460" y="2811780"/>
            <a:ext cx="411480" cy="411480"/>
          </a:xfrm>
          <a:prstGeom prst="rect">
            <a:avLst/>
          </a:prstGeom>
        </p:spPr>
      </p:pic>
      <p:sp>
        <p:nvSpPr>
          <p:cNvPr id="7" name="TextBox 6"/>
          <p:cNvSpPr txBox="1"/>
          <p:nvPr/>
        </p:nvSpPr>
        <p:spPr>
          <a:xfrm>
            <a:off x="484632" y="3566160"/>
            <a:ext cx="2240280" cy="411480"/>
          </a:xfrm>
          <a:prstGeom prst="rect">
            <a:avLst/>
          </a:prstGeom>
          <a:noFill/>
        </p:spPr>
        <p:txBody>
          <a:bodyPr wrap="square" anchor="t" lIns="45720" rIns="45720">
            <a:spAutoFit/>
          </a:bodyPr>
          <a:lstStyle/>
          <a:p>
            <a:pPr algn="ctr"/>
            <a:r>
              <a:rPr sz="1900" b="1" i="0" lang="sv-SE">
                <a:solidFill>
                  <a:srgbClr val="222222"/>
                </a:solidFill>
              </a:rPr>
              <a:t>Du</a:t>
            </a:r>
          </a:p>
        </p:txBody>
      </p:sp>
      <p:sp>
        <p:nvSpPr>
          <p:cNvPr id="8" name="TextBox 7"/>
          <p:cNvSpPr txBox="1"/>
          <p:nvPr/>
        </p:nvSpPr>
        <p:spPr>
          <a:xfrm>
            <a:off x="530352" y="4023360"/>
            <a:ext cx="2148840" cy="1051560"/>
          </a:xfrm>
          <a:prstGeom prst="rect">
            <a:avLst/>
          </a:prstGeom>
          <a:noFill/>
        </p:spPr>
        <p:txBody>
          <a:bodyPr wrap="square" anchor="t" lIns="45720" rIns="45720">
            <a:spAutoFit/>
          </a:bodyPr>
          <a:lstStyle/>
          <a:p>
            <a:pPr algn="ctr"/>
            <a:r>
              <a:rPr sz="1400" b="0" i="0" lang="sv-SE">
                <a:solidFill>
                  <a:srgbClr val="222222"/>
                </a:solidFill>
              </a:rPr>
              <a:t>ställer en fråga på valfritt språk – svenska, engelska, finska …</a:t>
            </a:r>
          </a:p>
        </p:txBody>
      </p:sp>
      <p:sp>
        <p:nvSpPr>
          <p:cNvPr id="9" name="Right Arrow 8"/>
          <p:cNvSpPr/>
          <p:nvPr/>
        </p:nvSpPr>
        <p:spPr>
          <a:xfrm>
            <a:off x="2935224" y="3584448"/>
            <a:ext cx="329184" cy="329184"/>
          </a:xfrm>
          <a:prstGeom prst="rightArrow">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37560" y="2331720"/>
            <a:ext cx="2514600"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178808" y="2606040"/>
            <a:ext cx="822960" cy="8229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obot_w.png"/>
          <p:cNvPicPr>
            <a:picLocks noChangeAspect="1"/>
          </p:cNvPicPr>
          <p:nvPr/>
        </p:nvPicPr>
        <p:blipFill>
          <a:blip r:embed="rId3"/>
          <a:stretch>
            <a:fillRect/>
          </a:stretch>
        </p:blipFill>
        <p:spPr>
          <a:xfrm>
            <a:off x="4384548" y="2811780"/>
            <a:ext cx="411480" cy="411480"/>
          </a:xfrm>
          <a:prstGeom prst="rect">
            <a:avLst/>
          </a:prstGeom>
        </p:spPr>
      </p:pic>
      <p:sp>
        <p:nvSpPr>
          <p:cNvPr id="13" name="TextBox 12"/>
          <p:cNvSpPr txBox="1"/>
          <p:nvPr/>
        </p:nvSpPr>
        <p:spPr>
          <a:xfrm>
            <a:off x="3474720" y="3566160"/>
            <a:ext cx="2240280" cy="411480"/>
          </a:xfrm>
          <a:prstGeom prst="rect">
            <a:avLst/>
          </a:prstGeom>
          <a:noFill/>
        </p:spPr>
        <p:txBody>
          <a:bodyPr wrap="square" anchor="t" lIns="45720" rIns="45720">
            <a:spAutoFit/>
          </a:bodyPr>
          <a:lstStyle/>
          <a:p>
            <a:pPr algn="ctr"/>
            <a:r>
              <a:rPr sz="1900" b="1" i="0" lang="sv-SE">
                <a:solidFill>
                  <a:srgbClr val="222222"/>
                </a:solidFill>
              </a:rPr>
              <a:t>AI-assistenten</a:t>
            </a:r>
          </a:p>
        </p:txBody>
      </p:sp>
      <p:sp>
        <p:nvSpPr>
          <p:cNvPr id="14" name="TextBox 13"/>
          <p:cNvSpPr txBox="1"/>
          <p:nvPr/>
        </p:nvSpPr>
        <p:spPr>
          <a:xfrm>
            <a:off x="3520440" y="4023360"/>
            <a:ext cx="2148840" cy="1051560"/>
          </a:xfrm>
          <a:prstGeom prst="rect">
            <a:avLst/>
          </a:prstGeom>
          <a:noFill/>
        </p:spPr>
        <p:txBody>
          <a:bodyPr wrap="square" anchor="t" lIns="45720" rIns="45720">
            <a:spAutoFit/>
          </a:bodyPr>
          <a:lstStyle/>
          <a:p>
            <a:pPr algn="ctr"/>
            <a:r>
              <a:rPr sz="1400" b="0" i="0" lang="sv-SE">
                <a:solidFill>
                  <a:srgbClr val="222222"/>
                </a:solidFill>
              </a:rPr>
              <a:t>tolkar frågan, väljer verktyg och söker på svenska – även äldre stavningar</a:t>
            </a:r>
          </a:p>
        </p:txBody>
      </p:sp>
      <p:sp>
        <p:nvSpPr>
          <p:cNvPr id="15" name="Right Arrow 14"/>
          <p:cNvSpPr/>
          <p:nvPr/>
        </p:nvSpPr>
        <p:spPr>
          <a:xfrm>
            <a:off x="5925312" y="3584448"/>
            <a:ext cx="329184" cy="329184"/>
          </a:xfrm>
          <a:prstGeom prst="rightArrow">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27648" y="2331720"/>
            <a:ext cx="2514600" cy="2834640"/>
          </a:xfrm>
          <a:prstGeom prst="roundRect">
            <a:avLst>
              <a:gd name="adj" fmla="val 6000"/>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68896" y="2606040"/>
            <a:ext cx="822960" cy="822960"/>
          </a:xfrm>
          <a:prstGeom prst="ellipse">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lug_w.png"/>
          <p:cNvPicPr>
            <a:picLocks noChangeAspect="1"/>
          </p:cNvPicPr>
          <p:nvPr/>
        </p:nvPicPr>
        <p:blipFill>
          <a:blip r:embed="rId4"/>
          <a:stretch>
            <a:fillRect/>
          </a:stretch>
        </p:blipFill>
        <p:spPr>
          <a:xfrm>
            <a:off x="7374636" y="2811780"/>
            <a:ext cx="411480" cy="411480"/>
          </a:xfrm>
          <a:prstGeom prst="rect">
            <a:avLst/>
          </a:prstGeom>
        </p:spPr>
      </p:pic>
      <p:sp>
        <p:nvSpPr>
          <p:cNvPr id="19" name="TextBox 18"/>
          <p:cNvSpPr txBox="1"/>
          <p:nvPr/>
        </p:nvSpPr>
        <p:spPr>
          <a:xfrm>
            <a:off x="6464808" y="3566160"/>
            <a:ext cx="2240280" cy="411480"/>
          </a:xfrm>
          <a:prstGeom prst="rect">
            <a:avLst/>
          </a:prstGeom>
          <a:noFill/>
        </p:spPr>
        <p:txBody>
          <a:bodyPr wrap="square" anchor="t" lIns="45720" rIns="45720">
            <a:spAutoFit/>
          </a:bodyPr>
          <a:lstStyle/>
          <a:p>
            <a:pPr algn="ctr"/>
            <a:r>
              <a:rPr sz="1900" b="1" i="0" lang="sv-SE">
                <a:solidFill>
                  <a:srgbClr val="FFFFFF"/>
                </a:solidFill>
              </a:rPr>
              <a:t>RA-MCP</a:t>
            </a:r>
          </a:p>
        </p:txBody>
      </p:sp>
      <p:sp>
        <p:nvSpPr>
          <p:cNvPr id="20" name="TextBox 19"/>
          <p:cNvSpPr txBox="1"/>
          <p:nvPr/>
        </p:nvSpPr>
        <p:spPr>
          <a:xfrm>
            <a:off x="6510528" y="4023360"/>
            <a:ext cx="2148840" cy="1051560"/>
          </a:xfrm>
          <a:prstGeom prst="rect">
            <a:avLst/>
          </a:prstGeom>
          <a:noFill/>
        </p:spPr>
        <p:txBody>
          <a:bodyPr wrap="square" anchor="t" lIns="45720" rIns="45720">
            <a:spAutoFit/>
          </a:bodyPr>
          <a:lstStyle/>
          <a:p>
            <a:pPr algn="ctr"/>
            <a:r>
              <a:rPr sz="1400" b="0" i="0" lang="sv-SE">
                <a:solidFill>
                  <a:srgbClr val="FFFFFF"/>
                </a:solidFill>
              </a:rPr>
              <a:t>frågar våra system – datan stannar hos oss, ingen kopia lämnar arkivet</a:t>
            </a:r>
          </a:p>
        </p:txBody>
      </p:sp>
      <p:sp>
        <p:nvSpPr>
          <p:cNvPr id="21" name="Right Arrow 20"/>
          <p:cNvSpPr/>
          <p:nvPr/>
        </p:nvSpPr>
        <p:spPr>
          <a:xfrm>
            <a:off x="8915400" y="3584448"/>
            <a:ext cx="329184" cy="329184"/>
          </a:xfrm>
          <a:prstGeom prst="rightArrow">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317736" y="2331720"/>
            <a:ext cx="2514600" cy="2834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58984" y="2606040"/>
            <a:ext cx="822960" cy="8229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db_w.png"/>
          <p:cNvPicPr>
            <a:picLocks noChangeAspect="1"/>
          </p:cNvPicPr>
          <p:nvPr/>
        </p:nvPicPr>
        <p:blipFill>
          <a:blip r:embed="rId5"/>
          <a:stretch>
            <a:fillRect/>
          </a:stretch>
        </p:blipFill>
        <p:spPr>
          <a:xfrm>
            <a:off x="10364724" y="2811780"/>
            <a:ext cx="411480" cy="411480"/>
          </a:xfrm>
          <a:prstGeom prst="rect">
            <a:avLst/>
          </a:prstGeom>
        </p:spPr>
      </p:pic>
      <p:sp>
        <p:nvSpPr>
          <p:cNvPr id="25" name="TextBox 24"/>
          <p:cNvSpPr txBox="1"/>
          <p:nvPr/>
        </p:nvSpPr>
        <p:spPr>
          <a:xfrm>
            <a:off x="9454896" y="3566160"/>
            <a:ext cx="2240280" cy="411480"/>
          </a:xfrm>
          <a:prstGeom prst="rect">
            <a:avLst/>
          </a:prstGeom>
          <a:noFill/>
        </p:spPr>
        <p:txBody>
          <a:bodyPr wrap="square" anchor="t" lIns="45720" rIns="45720">
            <a:spAutoFit/>
          </a:bodyPr>
          <a:lstStyle/>
          <a:p>
            <a:pPr algn="ctr"/>
            <a:r>
              <a:rPr sz="1900" b="1" i="0" lang="sv-SE">
                <a:solidFill>
                  <a:srgbClr val="222222"/>
                </a:solidFill>
              </a:rPr>
              <a:t>Våra källor</a:t>
            </a:r>
          </a:p>
        </p:txBody>
      </p:sp>
      <p:sp>
        <p:nvSpPr>
          <p:cNvPr id="26" name="TextBox 25"/>
          <p:cNvSpPr txBox="1"/>
          <p:nvPr/>
        </p:nvSpPr>
        <p:spPr>
          <a:xfrm>
            <a:off x="9500616" y="4023360"/>
            <a:ext cx="2148840" cy="1051560"/>
          </a:xfrm>
          <a:prstGeom prst="rect">
            <a:avLst/>
          </a:prstGeom>
          <a:noFill/>
        </p:spPr>
        <p:txBody>
          <a:bodyPr wrap="square" anchor="t" lIns="45720" rIns="45720">
            <a:spAutoFit/>
          </a:bodyPr>
          <a:lstStyle/>
          <a:p>
            <a:pPr algn="ctr"/>
            <a:r>
              <a:rPr sz="1400" b="0" i="0" lang="sv-SE">
                <a:solidFill>
                  <a:srgbClr val="222222"/>
                </a:solidFill>
              </a:rPr>
              <a:t>250 000 arkiv, 73 miljoner bilder, transkriberad handskrift och 30+ register</a:t>
            </a:r>
          </a:p>
        </p:txBody>
      </p:sp>
      <p:sp>
        <p:nvSpPr>
          <p:cNvPr id="27" name="TextBox 26"/>
          <p:cNvSpPr txBox="1"/>
          <p:nvPr/>
        </p:nvSpPr>
        <p:spPr>
          <a:xfrm>
            <a:off x="347472" y="5394960"/>
            <a:ext cx="11430000" cy="411480"/>
          </a:xfrm>
          <a:prstGeom prst="rect">
            <a:avLst/>
          </a:prstGeom>
          <a:noFill/>
        </p:spPr>
        <p:txBody>
          <a:bodyPr wrap="square" anchor="t" lIns="45720" rIns="45720">
            <a:spAutoFit/>
          </a:bodyPr>
          <a:lstStyle/>
          <a:p>
            <a:pPr algn="l"/>
            <a:r>
              <a:rPr sz="1400" b="0" i="0" lang="sv-SE">
                <a:solidFill>
                  <a:srgbClr val="5A5A5A"/>
                </a:solidFill>
              </a:rPr>
              <a:t>Språket kommer från språkmodellen – svaret kommer tillbaka på ditt språk, med referenser till originalen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sv-SE"/>
              <a:t>Vad finns i RA-MCP?</a:t>
            </a:r>
          </a:p>
        </p:txBody>
      </p:sp>
      <p:sp>
        <p:nvSpPr>
          <p:cNvPr id="3" name="Rounded Rectangle 2"/>
          <p:cNvSpPr/>
          <p:nvPr/>
        </p:nvSpPr>
        <p:spPr>
          <a:xfrm>
            <a:off x="347472"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arch_w.png"/>
          <p:cNvPicPr>
            <a:picLocks noChangeAspect="1"/>
          </p:cNvPicPr>
          <p:nvPr/>
        </p:nvPicPr>
        <p:blipFill>
          <a:blip r:embed="rId2"/>
          <a:stretch>
            <a:fillRect/>
          </a:stretch>
        </p:blipFill>
        <p:spPr>
          <a:xfrm>
            <a:off x="690372" y="1485900"/>
            <a:ext cx="283464" cy="283464"/>
          </a:xfrm>
          <a:prstGeom prst="rect">
            <a:avLst/>
          </a:prstGeom>
        </p:spPr>
      </p:pic>
      <p:sp>
        <p:nvSpPr>
          <p:cNvPr id="6" name="TextBox 5"/>
          <p:cNvSpPr txBox="1"/>
          <p:nvPr/>
        </p:nvSpPr>
        <p:spPr>
          <a:xfrm>
            <a:off x="548640" y="2011680"/>
            <a:ext cx="2359152" cy="365760"/>
          </a:xfrm>
          <a:prstGeom prst="rect">
            <a:avLst/>
          </a:prstGeom>
          <a:noFill/>
        </p:spPr>
        <p:txBody>
          <a:bodyPr wrap="square" anchor="t" lIns="45720" rIns="45720">
            <a:spAutoFit/>
          </a:bodyPr>
          <a:lstStyle/>
          <a:p>
            <a:pPr algn="l"/>
            <a:r>
              <a:rPr sz="1700" b="1" i="0" lang="sv-SE">
                <a:solidFill>
                  <a:srgbClr val="222222"/>
                </a:solidFill>
              </a:rPr>
              <a:t>Sök i handskrift</a:t>
            </a:r>
          </a:p>
        </p:txBody>
      </p:sp>
      <p:sp>
        <p:nvSpPr>
          <p:cNvPr id="7" name="TextBox 6"/>
          <p:cNvSpPr txBox="1"/>
          <p:nvPr/>
        </p:nvSpPr>
        <p:spPr>
          <a:xfrm>
            <a:off x="548640" y="2377440"/>
            <a:ext cx="2359152" cy="777240"/>
          </a:xfrm>
          <a:prstGeom prst="rect">
            <a:avLst/>
          </a:prstGeom>
          <a:noFill/>
        </p:spPr>
        <p:txBody>
          <a:bodyPr wrap="square" anchor="t" lIns="45720" rIns="45720">
            <a:spAutoFit/>
          </a:bodyPr>
          <a:lstStyle/>
          <a:p>
            <a:pPr algn="l"/>
            <a:r>
              <a:rPr sz="1300" b="0" i="0" lang="sv-SE">
                <a:solidFill>
                  <a:srgbClr val="5A5A5A"/>
                </a:solidFill>
              </a:rPr>
              <a:t>AI-transkriberad text, även gamla stavningar</a:t>
            </a:r>
          </a:p>
        </p:txBody>
      </p:sp>
      <p:sp>
        <p:nvSpPr>
          <p:cNvPr id="8" name="Rounded Rectangle 7"/>
          <p:cNvSpPr/>
          <p:nvPr/>
        </p:nvSpPr>
        <p:spPr>
          <a:xfrm>
            <a:off x="3268979"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470148"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ags_w.png"/>
          <p:cNvPicPr>
            <a:picLocks noChangeAspect="1"/>
          </p:cNvPicPr>
          <p:nvPr/>
        </p:nvPicPr>
        <p:blipFill>
          <a:blip r:embed="rId3"/>
          <a:stretch>
            <a:fillRect/>
          </a:stretch>
        </p:blipFill>
        <p:spPr>
          <a:xfrm>
            <a:off x="3611879" y="1485900"/>
            <a:ext cx="283464" cy="283464"/>
          </a:xfrm>
          <a:prstGeom prst="rect">
            <a:avLst/>
          </a:prstGeom>
        </p:spPr>
      </p:pic>
      <p:sp>
        <p:nvSpPr>
          <p:cNvPr id="11" name="TextBox 10"/>
          <p:cNvSpPr txBox="1"/>
          <p:nvPr/>
        </p:nvSpPr>
        <p:spPr>
          <a:xfrm>
            <a:off x="3470148" y="2011680"/>
            <a:ext cx="2359152" cy="365760"/>
          </a:xfrm>
          <a:prstGeom prst="rect">
            <a:avLst/>
          </a:prstGeom>
          <a:noFill/>
        </p:spPr>
        <p:txBody>
          <a:bodyPr wrap="square" anchor="t" lIns="45720" rIns="45720">
            <a:spAutoFit/>
          </a:bodyPr>
          <a:lstStyle/>
          <a:p>
            <a:pPr algn="l"/>
            <a:r>
              <a:rPr sz="1700" b="1" i="0" lang="sv-SE">
                <a:solidFill>
                  <a:srgbClr val="222222"/>
                </a:solidFill>
              </a:rPr>
              <a:t>Sök i katalogen</a:t>
            </a:r>
          </a:p>
        </p:txBody>
      </p:sp>
      <p:sp>
        <p:nvSpPr>
          <p:cNvPr id="12" name="TextBox 11"/>
          <p:cNvSpPr txBox="1"/>
          <p:nvPr/>
        </p:nvSpPr>
        <p:spPr>
          <a:xfrm>
            <a:off x="3470148" y="2377440"/>
            <a:ext cx="2359152" cy="777240"/>
          </a:xfrm>
          <a:prstGeom prst="rect">
            <a:avLst/>
          </a:prstGeom>
          <a:noFill/>
        </p:spPr>
        <p:txBody>
          <a:bodyPr wrap="square" anchor="t" lIns="45720" rIns="45720">
            <a:spAutoFit/>
          </a:bodyPr>
          <a:lstStyle/>
          <a:p>
            <a:pPr algn="l"/>
            <a:r>
              <a:rPr sz="1300" b="0" i="0" lang="sv-SE">
                <a:solidFill>
                  <a:srgbClr val="5A5A5A"/>
                </a:solidFill>
              </a:rPr>
              <a:t>250 000 arkivförteckningar och 2 miljoner+ andra poster</a:t>
            </a:r>
          </a:p>
        </p:txBody>
      </p:sp>
      <p:sp>
        <p:nvSpPr>
          <p:cNvPr id="13" name="Rounded Rectangle 12"/>
          <p:cNvSpPr/>
          <p:nvPr/>
        </p:nvSpPr>
        <p:spPr>
          <a:xfrm>
            <a:off x="6190488"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1655"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eye_w.png"/>
          <p:cNvPicPr>
            <a:picLocks noChangeAspect="1"/>
          </p:cNvPicPr>
          <p:nvPr/>
        </p:nvPicPr>
        <p:blipFill>
          <a:blip r:embed="rId4"/>
          <a:stretch>
            <a:fillRect/>
          </a:stretch>
        </p:blipFill>
        <p:spPr>
          <a:xfrm>
            <a:off x="6533388" y="1485900"/>
            <a:ext cx="283464" cy="283464"/>
          </a:xfrm>
          <a:prstGeom prst="rect">
            <a:avLst/>
          </a:prstGeom>
        </p:spPr>
      </p:pic>
      <p:sp>
        <p:nvSpPr>
          <p:cNvPr id="16" name="TextBox 15"/>
          <p:cNvSpPr txBox="1"/>
          <p:nvPr/>
        </p:nvSpPr>
        <p:spPr>
          <a:xfrm>
            <a:off x="6391655" y="2011680"/>
            <a:ext cx="2359152" cy="365760"/>
          </a:xfrm>
          <a:prstGeom prst="rect">
            <a:avLst/>
          </a:prstGeom>
          <a:noFill/>
        </p:spPr>
        <p:txBody>
          <a:bodyPr wrap="square" anchor="t" lIns="45720" rIns="45720">
            <a:spAutoFit/>
          </a:bodyPr>
          <a:lstStyle/>
          <a:p>
            <a:pPr algn="l"/>
            <a:r>
              <a:rPr sz="1700" b="1" i="0" lang="sv-SE">
                <a:solidFill>
                  <a:srgbClr val="222222"/>
                </a:solidFill>
              </a:rPr>
              <a:t>Visa originalen</a:t>
            </a:r>
          </a:p>
        </p:txBody>
      </p:sp>
      <p:sp>
        <p:nvSpPr>
          <p:cNvPr id="17" name="TextBox 16"/>
          <p:cNvSpPr txBox="1"/>
          <p:nvPr/>
        </p:nvSpPr>
        <p:spPr>
          <a:xfrm>
            <a:off x="6391655" y="2377440"/>
            <a:ext cx="2359152" cy="777240"/>
          </a:xfrm>
          <a:prstGeom prst="rect">
            <a:avLst/>
          </a:prstGeom>
          <a:noFill/>
        </p:spPr>
        <p:txBody>
          <a:bodyPr wrap="square" anchor="t" lIns="45720" rIns="45720">
            <a:spAutoFit/>
          </a:bodyPr>
          <a:lstStyle/>
          <a:p>
            <a:pPr algn="l"/>
            <a:r>
              <a:rPr sz="1300" b="0" i="0" lang="sv-SE">
                <a:solidFill>
                  <a:srgbClr val="5A5A5A"/>
                </a:solidFill>
              </a:rPr>
              <a:t>Bläddra sidor och öppna bilden med texten ovanpå</a:t>
            </a:r>
          </a:p>
        </p:txBody>
      </p:sp>
      <p:sp>
        <p:nvSpPr>
          <p:cNvPr id="18" name="Rounded Rectangle 17"/>
          <p:cNvSpPr/>
          <p:nvPr/>
        </p:nvSpPr>
        <p:spPr>
          <a:xfrm>
            <a:off x="9111996" y="1143000"/>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13164" y="1344168"/>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users_w.png"/>
          <p:cNvPicPr>
            <a:picLocks noChangeAspect="1"/>
          </p:cNvPicPr>
          <p:nvPr/>
        </p:nvPicPr>
        <p:blipFill>
          <a:blip r:embed="rId5"/>
          <a:stretch>
            <a:fillRect/>
          </a:stretch>
        </p:blipFill>
        <p:spPr>
          <a:xfrm>
            <a:off x="9454896" y="1485900"/>
            <a:ext cx="283464" cy="283464"/>
          </a:xfrm>
          <a:prstGeom prst="rect">
            <a:avLst/>
          </a:prstGeom>
        </p:spPr>
      </p:pic>
      <p:sp>
        <p:nvSpPr>
          <p:cNvPr id="21" name="TextBox 20"/>
          <p:cNvSpPr txBox="1"/>
          <p:nvPr/>
        </p:nvSpPr>
        <p:spPr>
          <a:xfrm>
            <a:off x="9313164" y="2011680"/>
            <a:ext cx="2359152" cy="365760"/>
          </a:xfrm>
          <a:prstGeom prst="rect">
            <a:avLst/>
          </a:prstGeom>
          <a:noFill/>
        </p:spPr>
        <p:txBody>
          <a:bodyPr wrap="square" anchor="t" lIns="45720" rIns="45720">
            <a:spAutoFit/>
          </a:bodyPr>
          <a:lstStyle/>
          <a:p>
            <a:pPr algn="l"/>
            <a:r>
              <a:rPr sz="1700" b="1" i="0" lang="sv-SE">
                <a:solidFill>
                  <a:srgbClr val="222222"/>
                </a:solidFill>
              </a:rPr>
              <a:t>Personer</a:t>
            </a:r>
          </a:p>
        </p:txBody>
      </p:sp>
      <p:sp>
        <p:nvSpPr>
          <p:cNvPr id="22" name="TextBox 21"/>
          <p:cNvSpPr txBox="1"/>
          <p:nvPr/>
        </p:nvSpPr>
        <p:spPr>
          <a:xfrm>
            <a:off x="9313164" y="2377440"/>
            <a:ext cx="2359152" cy="777240"/>
          </a:xfrm>
          <a:prstGeom prst="rect">
            <a:avLst/>
          </a:prstGeom>
          <a:noFill/>
        </p:spPr>
        <p:txBody>
          <a:bodyPr wrap="square" anchor="t" lIns="45720" rIns="45720">
            <a:spAutoFit/>
          </a:bodyPr>
          <a:lstStyle/>
          <a:p>
            <a:pPr algn="l"/>
            <a:r>
              <a:rPr sz="1300" b="0" i="0" lang="sv-SE">
                <a:solidFill>
                  <a:srgbClr val="5A5A5A"/>
                </a:solidFill>
              </a:rPr>
              <a:t>Födda, döda, vigda och biografiskt lexikon</a:t>
            </a:r>
          </a:p>
        </p:txBody>
      </p:sp>
      <p:sp>
        <p:nvSpPr>
          <p:cNvPr id="23" name="Rounded Rectangle 22"/>
          <p:cNvSpPr/>
          <p:nvPr/>
        </p:nvSpPr>
        <p:spPr>
          <a:xfrm>
            <a:off x="347472" y="3364992"/>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48640"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croll_w.png"/>
          <p:cNvPicPr>
            <a:picLocks noChangeAspect="1"/>
          </p:cNvPicPr>
          <p:nvPr/>
        </p:nvPicPr>
        <p:blipFill>
          <a:blip r:embed="rId6"/>
          <a:stretch>
            <a:fillRect/>
          </a:stretch>
        </p:blipFill>
        <p:spPr>
          <a:xfrm>
            <a:off x="690372" y="3707892"/>
            <a:ext cx="283464" cy="283464"/>
          </a:xfrm>
          <a:prstGeom prst="rect">
            <a:avLst/>
          </a:prstGeom>
        </p:spPr>
      </p:pic>
      <p:sp>
        <p:nvSpPr>
          <p:cNvPr id="26" name="TextBox 25"/>
          <p:cNvSpPr txBox="1"/>
          <p:nvPr/>
        </p:nvSpPr>
        <p:spPr>
          <a:xfrm>
            <a:off x="548640" y="4233672"/>
            <a:ext cx="2359152" cy="365760"/>
          </a:xfrm>
          <a:prstGeom prst="rect">
            <a:avLst/>
          </a:prstGeom>
          <a:noFill/>
        </p:spPr>
        <p:txBody>
          <a:bodyPr wrap="square" anchor="t" lIns="45720" rIns="45720">
            <a:spAutoFit/>
          </a:bodyPr>
          <a:lstStyle/>
          <a:p>
            <a:pPr algn="l"/>
            <a:r>
              <a:rPr sz="1700" b="1" i="0" lang="sv-SE">
                <a:solidFill>
                  <a:srgbClr val="222222"/>
                </a:solidFill>
              </a:rPr>
              <a:t>Medeltid</a:t>
            </a:r>
          </a:p>
        </p:txBody>
      </p:sp>
      <p:sp>
        <p:nvSpPr>
          <p:cNvPr id="27" name="TextBox 26"/>
          <p:cNvSpPr txBox="1"/>
          <p:nvPr/>
        </p:nvSpPr>
        <p:spPr>
          <a:xfrm>
            <a:off x="548640" y="4599432"/>
            <a:ext cx="2359152" cy="777240"/>
          </a:xfrm>
          <a:prstGeom prst="rect">
            <a:avLst/>
          </a:prstGeom>
          <a:noFill/>
        </p:spPr>
        <p:txBody>
          <a:bodyPr wrap="square" anchor="t" lIns="45720" rIns="45720">
            <a:spAutoFit/>
          </a:bodyPr>
          <a:lstStyle/>
          <a:p>
            <a:pPr algn="l"/>
            <a:r>
              <a:rPr sz="1300" b="0" i="0" lang="sv-SE">
                <a:solidFill>
                  <a:srgbClr val="5A5A5A"/>
                </a:solidFill>
              </a:rPr>
              <a:t>Svenskt Diplomatariums huvudkartotek och pergamentomslag</a:t>
            </a:r>
          </a:p>
        </p:txBody>
      </p:sp>
      <p:sp>
        <p:nvSpPr>
          <p:cNvPr id="28" name="Rounded Rectangle 27"/>
          <p:cNvSpPr/>
          <p:nvPr/>
        </p:nvSpPr>
        <p:spPr>
          <a:xfrm>
            <a:off x="3268979" y="3364992"/>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470148"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hip_w.png"/>
          <p:cNvPicPr>
            <a:picLocks noChangeAspect="1"/>
          </p:cNvPicPr>
          <p:nvPr/>
        </p:nvPicPr>
        <p:blipFill>
          <a:blip r:embed="rId7"/>
          <a:stretch>
            <a:fillRect/>
          </a:stretch>
        </p:blipFill>
        <p:spPr>
          <a:xfrm>
            <a:off x="3611879" y="3707892"/>
            <a:ext cx="283464" cy="283464"/>
          </a:xfrm>
          <a:prstGeom prst="rect">
            <a:avLst/>
          </a:prstGeom>
        </p:spPr>
      </p:pic>
      <p:sp>
        <p:nvSpPr>
          <p:cNvPr id="31" name="TextBox 30"/>
          <p:cNvSpPr txBox="1"/>
          <p:nvPr/>
        </p:nvSpPr>
        <p:spPr>
          <a:xfrm>
            <a:off x="3470148" y="4233672"/>
            <a:ext cx="2359152" cy="365760"/>
          </a:xfrm>
          <a:prstGeom prst="rect">
            <a:avLst/>
          </a:prstGeom>
          <a:noFill/>
        </p:spPr>
        <p:txBody>
          <a:bodyPr wrap="square" anchor="t" lIns="45720" rIns="45720">
            <a:spAutoFit/>
          </a:bodyPr>
          <a:lstStyle/>
          <a:p>
            <a:pPr algn="l"/>
            <a:r>
              <a:rPr sz="1700" b="1" i="0" lang="sv-SE">
                <a:solidFill>
                  <a:srgbClr val="222222"/>
                </a:solidFill>
              </a:rPr>
              <a:t>Fler register</a:t>
            </a:r>
          </a:p>
        </p:txBody>
      </p:sp>
      <p:sp>
        <p:nvSpPr>
          <p:cNvPr id="32" name="TextBox 31"/>
          <p:cNvSpPr txBox="1"/>
          <p:nvPr/>
        </p:nvSpPr>
        <p:spPr>
          <a:xfrm>
            <a:off x="3470148" y="4599432"/>
            <a:ext cx="2359152" cy="777240"/>
          </a:xfrm>
          <a:prstGeom prst="rect">
            <a:avLst/>
          </a:prstGeom>
          <a:noFill/>
        </p:spPr>
        <p:txBody>
          <a:bodyPr wrap="square" anchor="t" lIns="45720" rIns="45720">
            <a:spAutoFit/>
          </a:bodyPr>
          <a:lstStyle/>
          <a:p>
            <a:pPr algn="l"/>
            <a:r>
              <a:rPr sz="1300" b="0" i="0" lang="sv-SE">
                <a:solidFill>
                  <a:srgbClr val="5A5A5A"/>
                </a:solidFill>
              </a:rPr>
              <a:t>Sjömanshus, domböcker, bolag, fordon m.fl.</a:t>
            </a:r>
          </a:p>
        </p:txBody>
      </p:sp>
      <p:sp>
        <p:nvSpPr>
          <p:cNvPr id="33" name="Rounded Rectangle 32"/>
          <p:cNvSpPr/>
          <p:nvPr/>
        </p:nvSpPr>
        <p:spPr>
          <a:xfrm>
            <a:off x="6190488" y="3364992"/>
            <a:ext cx="2724912" cy="2057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91655"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file_w.png"/>
          <p:cNvPicPr>
            <a:picLocks noChangeAspect="1"/>
          </p:cNvPicPr>
          <p:nvPr/>
        </p:nvPicPr>
        <p:blipFill>
          <a:blip r:embed="rId8"/>
          <a:stretch>
            <a:fillRect/>
          </a:stretch>
        </p:blipFill>
        <p:spPr>
          <a:xfrm>
            <a:off x="6533388" y="3707892"/>
            <a:ext cx="283464" cy="283464"/>
          </a:xfrm>
          <a:prstGeom prst="rect">
            <a:avLst/>
          </a:prstGeom>
        </p:spPr>
      </p:pic>
      <p:sp>
        <p:nvSpPr>
          <p:cNvPr id="36" name="TextBox 35"/>
          <p:cNvSpPr txBox="1"/>
          <p:nvPr/>
        </p:nvSpPr>
        <p:spPr>
          <a:xfrm>
            <a:off x="6391655" y="4233672"/>
            <a:ext cx="2359152" cy="365760"/>
          </a:xfrm>
          <a:prstGeom prst="rect">
            <a:avLst/>
          </a:prstGeom>
          <a:noFill/>
        </p:spPr>
        <p:txBody>
          <a:bodyPr wrap="square" anchor="t" lIns="45720" rIns="45720">
            <a:spAutoFit/>
          </a:bodyPr>
          <a:lstStyle/>
          <a:p>
            <a:pPr algn="l"/>
            <a:r>
              <a:rPr sz="1700" b="1" i="0" lang="sv-SE">
                <a:solidFill>
                  <a:srgbClr val="222222"/>
                </a:solidFill>
              </a:rPr>
              <a:t>Forskarguider</a:t>
            </a:r>
          </a:p>
        </p:txBody>
      </p:sp>
      <p:sp>
        <p:nvSpPr>
          <p:cNvPr id="37" name="TextBox 36"/>
          <p:cNvSpPr txBox="1"/>
          <p:nvPr/>
        </p:nvSpPr>
        <p:spPr>
          <a:xfrm>
            <a:off x="6391655" y="4599432"/>
            <a:ext cx="2359152" cy="777240"/>
          </a:xfrm>
          <a:prstGeom prst="rect">
            <a:avLst/>
          </a:prstGeom>
          <a:noFill/>
        </p:spPr>
        <p:txBody>
          <a:bodyPr wrap="square" anchor="t" lIns="45720" rIns="45720">
            <a:spAutoFit/>
          </a:bodyPr>
          <a:lstStyle/>
          <a:p>
            <a:pPr algn="l"/>
            <a:r>
              <a:rPr sz="1300" b="0" i="0" lang="sv-SE">
                <a:solidFill>
                  <a:srgbClr val="5A5A5A"/>
                </a:solidFill>
              </a:rPr>
              <a:t>Riksarkivets PDF-guider om källor och arkivhistoria</a:t>
            </a:r>
          </a:p>
        </p:txBody>
      </p:sp>
      <p:sp>
        <p:nvSpPr>
          <p:cNvPr id="38" name="Rounded Rectangle 37"/>
          <p:cNvSpPr/>
          <p:nvPr/>
        </p:nvSpPr>
        <p:spPr>
          <a:xfrm>
            <a:off x="9111996" y="3364992"/>
            <a:ext cx="2724912" cy="2057400"/>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313164" y="3566160"/>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compass_w.png"/>
          <p:cNvPicPr>
            <a:picLocks noChangeAspect="1"/>
          </p:cNvPicPr>
          <p:nvPr/>
        </p:nvPicPr>
        <p:blipFill>
          <a:blip r:embed="rId9"/>
          <a:stretch>
            <a:fillRect/>
          </a:stretch>
        </p:blipFill>
        <p:spPr>
          <a:xfrm>
            <a:off x="9454896" y="3707892"/>
            <a:ext cx="283464" cy="283464"/>
          </a:xfrm>
          <a:prstGeom prst="rect">
            <a:avLst/>
          </a:prstGeom>
        </p:spPr>
      </p:pic>
      <p:sp>
        <p:nvSpPr>
          <p:cNvPr id="41" name="TextBox 40"/>
          <p:cNvSpPr txBox="1"/>
          <p:nvPr/>
        </p:nvSpPr>
        <p:spPr>
          <a:xfrm>
            <a:off x="9313164" y="4233672"/>
            <a:ext cx="2359152" cy="365760"/>
          </a:xfrm>
          <a:prstGeom prst="rect">
            <a:avLst/>
          </a:prstGeom>
          <a:noFill/>
        </p:spPr>
        <p:txBody>
          <a:bodyPr wrap="square" anchor="t" lIns="45720" rIns="45720">
            <a:spAutoFit/>
          </a:bodyPr>
          <a:lstStyle/>
          <a:p>
            <a:pPr algn="l"/>
            <a:r>
              <a:rPr sz="1700" b="1" i="0" lang="sv-SE">
                <a:solidFill>
                  <a:srgbClr val="FFFFFF"/>
                </a:solidFill>
              </a:rPr>
              <a:t>Skills</a:t>
            </a:r>
          </a:p>
        </p:txBody>
      </p:sp>
      <p:sp>
        <p:nvSpPr>
          <p:cNvPr id="42" name="TextBox 41"/>
          <p:cNvSpPr txBox="1"/>
          <p:nvPr/>
        </p:nvSpPr>
        <p:spPr>
          <a:xfrm>
            <a:off x="9313164" y="4599432"/>
            <a:ext cx="2359152" cy="640080"/>
          </a:xfrm>
          <a:prstGeom prst="rect">
            <a:avLst/>
          </a:prstGeom>
          <a:noFill/>
        </p:spPr>
        <p:txBody>
          <a:bodyPr wrap="square" anchor="t" lIns="45720" rIns="45720">
            <a:spAutoFit/>
          </a:bodyPr>
          <a:lstStyle/>
          <a:p>
            <a:pPr algn="l"/>
            <a:r>
              <a:rPr sz="1300" b="0" i="0" lang="sv-SE">
                <a:solidFill>
                  <a:srgbClr val="FFFFFF"/>
                </a:solidFill>
              </a:rPr>
              <a:t>Inbyggd vägledning som lär AI:n att söka i arkiv</a:t>
            </a:r>
          </a:p>
        </p:txBody>
      </p:sp>
      <p:sp>
        <p:nvSpPr>
          <p:cNvPr id="43" name="TextBox 42"/>
          <p:cNvSpPr txBox="1"/>
          <p:nvPr/>
        </p:nvSpPr>
        <p:spPr>
          <a:xfrm>
            <a:off x="347472" y="5605272"/>
            <a:ext cx="11494008" cy="365760"/>
          </a:xfrm>
          <a:prstGeom prst="rect">
            <a:avLst/>
          </a:prstGeom>
          <a:noFill/>
        </p:spPr>
        <p:txBody>
          <a:bodyPr wrap="square" anchor="t" lIns="45720" rIns="45720">
            <a:spAutoFit/>
          </a:bodyPr>
          <a:lstStyle/>
          <a:p>
            <a:pPr algn="l"/>
            <a:r>
              <a:rPr sz="1400" b="0" i="0" lang="sv-SE">
                <a:solidFill>
                  <a:srgbClr val="5A5A5A"/>
                </a:solidFill>
              </a:rPr>
              <a:t>Ett trettiotal sökbara källor – och AI:n väljer själv vilka den behöver för din fråga.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sv-SE"/>
              <a:t>Vad kan man fråga?</a:t>
            </a:r>
          </a:p>
        </p:txBody>
      </p:sp>
      <p:sp>
        <p:nvSpPr>
          <p:cNvPr id="3" name="Rounded Rectangle 2"/>
          <p:cNvSpPr/>
          <p:nvPr/>
        </p:nvSpPr>
        <p:spPr>
          <a:xfrm>
            <a:off x="347472" y="1143000"/>
            <a:ext cx="3739896"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76072" y="132588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ee_w.png"/>
          <p:cNvPicPr>
            <a:picLocks noChangeAspect="1"/>
          </p:cNvPicPr>
          <p:nvPr/>
        </p:nvPicPr>
        <p:blipFill>
          <a:blip r:embed="rId2"/>
          <a:stretch>
            <a:fillRect/>
          </a:stretch>
        </p:blipFill>
        <p:spPr>
          <a:xfrm>
            <a:off x="747522" y="1497330"/>
            <a:ext cx="342900" cy="342900"/>
          </a:xfrm>
          <a:prstGeom prst="rect">
            <a:avLst/>
          </a:prstGeom>
        </p:spPr>
      </p:pic>
      <p:sp>
        <p:nvSpPr>
          <p:cNvPr id="6" name="TextBox 5"/>
          <p:cNvSpPr txBox="1"/>
          <p:nvPr/>
        </p:nvSpPr>
        <p:spPr>
          <a:xfrm>
            <a:off x="1399031" y="1325880"/>
            <a:ext cx="2551176" cy="365760"/>
          </a:xfrm>
          <a:prstGeom prst="rect">
            <a:avLst/>
          </a:prstGeom>
          <a:noFill/>
        </p:spPr>
        <p:txBody>
          <a:bodyPr wrap="square" anchor="t" lIns="45720" rIns="45720">
            <a:spAutoFit/>
          </a:bodyPr>
          <a:lstStyle/>
          <a:p>
            <a:pPr algn="l"/>
            <a:r>
              <a:rPr sz="1900" b="1" i="0" lang="sv-SE">
                <a:solidFill>
                  <a:srgbClr val="222222"/>
                </a:solidFill>
              </a:rPr>
              <a:t>Släktforskaren</a:t>
            </a:r>
          </a:p>
        </p:txBody>
      </p:sp>
      <p:sp>
        <p:nvSpPr>
          <p:cNvPr id="7" name="TextBox 6"/>
          <p:cNvSpPr txBox="1"/>
          <p:nvPr/>
        </p:nvSpPr>
        <p:spPr>
          <a:xfrm>
            <a:off x="1399031" y="1691640"/>
            <a:ext cx="2551176" cy="320040"/>
          </a:xfrm>
          <a:prstGeom prst="rect">
            <a:avLst/>
          </a:prstGeom>
          <a:noFill/>
        </p:spPr>
        <p:txBody>
          <a:bodyPr wrap="square" anchor="t" lIns="45720" rIns="45720">
            <a:spAutoFit/>
          </a:bodyPr>
          <a:lstStyle/>
          <a:p>
            <a:pPr algn="l"/>
            <a:r>
              <a:rPr sz="1000" b="1" i="0" lang="sv-SE">
                <a:solidFill>
                  <a:srgbClr val="B44B6F"/>
                </a:solidFill>
              </a:rPr>
              <a:t>KYRKBÖCKERNA (DDS)</a:t>
            </a:r>
          </a:p>
        </p:txBody>
      </p:sp>
      <p:sp>
        <p:nvSpPr>
          <p:cNvPr id="8" name="TextBox 7"/>
          <p:cNvSpPr txBox="1"/>
          <p:nvPr/>
        </p:nvSpPr>
        <p:spPr>
          <a:xfrm>
            <a:off x="576072" y="2286000"/>
            <a:ext cx="3282696" cy="2926080"/>
          </a:xfrm>
          <a:prstGeom prst="rect">
            <a:avLst/>
          </a:prstGeom>
          <a:noFill/>
        </p:spPr>
        <p:txBody>
          <a:bodyPr wrap="square" anchor="t" lIns="45720" rIns="45720">
            <a:spAutoFit/>
          </a:bodyPr>
          <a:lstStyle/>
          <a:p>
            <a:pPr algn="l">
              <a:spcAft>
                <a:spcPts val="800"/>
              </a:spcAft>
            </a:pPr>
            <a:r>
              <a:rPr sz="1500" b="0" i="0" lang="sv-SE">
                <a:solidFill>
                  <a:srgbClr val="222222"/>
                </a:solidFill>
              </a:rPr>
              <a:t>”Vad kan du hitta om min anfader Mathis Michaelsson i Asarum?”</a:t>
            </a:r>
          </a:p>
        </p:txBody>
      </p:sp>
      <p:sp>
        <p:nvSpPr>
          <p:cNvPr id="9" name="Rounded Rectangle 8"/>
          <p:cNvSpPr/>
          <p:nvPr/>
        </p:nvSpPr>
        <p:spPr>
          <a:xfrm>
            <a:off x="4224528" y="1143000"/>
            <a:ext cx="3739896"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453128" y="132588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rad_w.png"/>
          <p:cNvPicPr>
            <a:picLocks noChangeAspect="1"/>
          </p:cNvPicPr>
          <p:nvPr/>
        </p:nvPicPr>
        <p:blipFill>
          <a:blip r:embed="rId3"/>
          <a:stretch>
            <a:fillRect/>
          </a:stretch>
        </p:blipFill>
        <p:spPr>
          <a:xfrm>
            <a:off x="4624578" y="1497330"/>
            <a:ext cx="342900" cy="342900"/>
          </a:xfrm>
          <a:prstGeom prst="rect">
            <a:avLst/>
          </a:prstGeom>
        </p:spPr>
      </p:pic>
      <p:sp>
        <p:nvSpPr>
          <p:cNvPr id="12" name="TextBox 11"/>
          <p:cNvSpPr txBox="1"/>
          <p:nvPr/>
        </p:nvSpPr>
        <p:spPr>
          <a:xfrm>
            <a:off x="5276088" y="1325880"/>
            <a:ext cx="2551176" cy="365760"/>
          </a:xfrm>
          <a:prstGeom prst="rect">
            <a:avLst/>
          </a:prstGeom>
          <a:noFill/>
        </p:spPr>
        <p:txBody>
          <a:bodyPr wrap="square" anchor="t" lIns="45720" rIns="45720">
            <a:spAutoFit/>
          </a:bodyPr>
          <a:lstStyle/>
          <a:p>
            <a:pPr algn="l"/>
            <a:r>
              <a:rPr sz="1900" b="1" i="0" lang="sv-SE">
                <a:solidFill>
                  <a:srgbClr val="222222"/>
                </a:solidFill>
              </a:rPr>
              <a:t>Forskaren</a:t>
            </a:r>
          </a:p>
        </p:txBody>
      </p:sp>
      <p:sp>
        <p:nvSpPr>
          <p:cNvPr id="13" name="TextBox 12"/>
          <p:cNvSpPr txBox="1"/>
          <p:nvPr/>
        </p:nvSpPr>
        <p:spPr>
          <a:xfrm>
            <a:off x="5276088" y="1691640"/>
            <a:ext cx="2551176" cy="320040"/>
          </a:xfrm>
          <a:prstGeom prst="rect">
            <a:avLst/>
          </a:prstGeom>
          <a:noFill/>
        </p:spPr>
        <p:txBody>
          <a:bodyPr wrap="square" anchor="t" lIns="45720" rIns="45720">
            <a:spAutoFit/>
          </a:bodyPr>
          <a:lstStyle/>
          <a:p>
            <a:pPr algn="l"/>
            <a:r>
              <a:rPr sz="1000" b="1" i="0" lang="sv-SE">
                <a:solidFill>
                  <a:srgbClr val="B44B6F"/>
                </a:solidFill>
              </a:rPr>
              <a:t>TRANSKRIBERAD HANDSKRIFT</a:t>
            </a:r>
          </a:p>
        </p:txBody>
      </p:sp>
      <p:sp>
        <p:nvSpPr>
          <p:cNvPr id="14" name="TextBox 13"/>
          <p:cNvSpPr txBox="1"/>
          <p:nvPr/>
        </p:nvSpPr>
        <p:spPr>
          <a:xfrm>
            <a:off x="4453128" y="2286000"/>
            <a:ext cx="3282696" cy="2926080"/>
          </a:xfrm>
          <a:prstGeom prst="rect">
            <a:avLst/>
          </a:prstGeom>
          <a:noFill/>
        </p:spPr>
        <p:txBody>
          <a:bodyPr wrap="square" anchor="t" lIns="45720" rIns="45720">
            <a:spAutoFit/>
          </a:bodyPr>
          <a:lstStyle/>
          <a:p>
            <a:pPr algn="l">
              <a:spcAft>
                <a:spcPts val="800"/>
              </a:spcAft>
            </a:pPr>
            <a:r>
              <a:rPr sz="1500" b="0" i="0" lang="sv-SE">
                <a:solidFill>
                  <a:srgbClr val="222222"/>
                </a:solidFill>
              </a:rPr>
              <a:t>”Kan du hitta historiska vittnesmål om koleraepidemin 1834, jämföra hur sjukdomen beskrevs i olika handlingar och visa de originalkällor som ligger bakom dina slutsatser?”</a:t>
            </a:r>
          </a:p>
          <a:p>
            <a:pPr algn="l">
              <a:spcAft>
                <a:spcPts val="800"/>
              </a:spcAft>
            </a:pPr>
            <a:r>
              <a:rPr sz="1100" b="1" i="0" lang="sv-SE">
                <a:solidFill>
                  <a:srgbClr val="B44B6F"/>
                </a:solidFill>
              </a:rPr>
              <a:t>Följdfråga</a:t>
            </a:r>
          </a:p>
          <a:p>
            <a:pPr algn="l">
              <a:spcAft>
                <a:spcPts val="800"/>
              </a:spcAft>
            </a:pPr>
            <a:r>
              <a:rPr sz="1500" b="0" i="0" lang="sv-SE">
                <a:solidFill>
                  <a:srgbClr val="222222"/>
                </a:solidFill>
              </a:rPr>
              <a:t>”Vilka nya forskningsfrågor väcker den här handlingen, och vilket ytterligare arkivmaterial skulle jag behöva undersöka?”</a:t>
            </a:r>
          </a:p>
        </p:txBody>
      </p:sp>
      <p:sp>
        <p:nvSpPr>
          <p:cNvPr id="15" name="Rounded Rectangle 14"/>
          <p:cNvSpPr/>
          <p:nvPr/>
        </p:nvSpPr>
        <p:spPr>
          <a:xfrm>
            <a:off x="8101584" y="1143000"/>
            <a:ext cx="3739896" cy="457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30184" y="132588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archive_w.png"/>
          <p:cNvPicPr>
            <a:picLocks noChangeAspect="1"/>
          </p:cNvPicPr>
          <p:nvPr/>
        </p:nvPicPr>
        <p:blipFill>
          <a:blip r:embed="rId4"/>
          <a:stretch>
            <a:fillRect/>
          </a:stretch>
        </p:blipFill>
        <p:spPr>
          <a:xfrm>
            <a:off x="8501634" y="1497330"/>
            <a:ext cx="342900" cy="342900"/>
          </a:xfrm>
          <a:prstGeom prst="rect">
            <a:avLst/>
          </a:prstGeom>
        </p:spPr>
      </p:pic>
      <p:sp>
        <p:nvSpPr>
          <p:cNvPr id="18" name="TextBox 17"/>
          <p:cNvSpPr txBox="1"/>
          <p:nvPr/>
        </p:nvSpPr>
        <p:spPr>
          <a:xfrm>
            <a:off x="9153144" y="1325880"/>
            <a:ext cx="2551176" cy="365760"/>
          </a:xfrm>
          <a:prstGeom prst="rect">
            <a:avLst/>
          </a:prstGeom>
          <a:noFill/>
        </p:spPr>
        <p:txBody>
          <a:bodyPr wrap="square" anchor="t" lIns="45720" rIns="45720">
            <a:spAutoFit/>
          </a:bodyPr>
          <a:lstStyle/>
          <a:p>
            <a:pPr algn="l"/>
            <a:r>
              <a:rPr sz="1900" b="1" i="0" lang="sv-SE">
                <a:solidFill>
                  <a:srgbClr val="222222"/>
                </a:solidFill>
              </a:rPr>
              <a:t>Arkivarien</a:t>
            </a:r>
          </a:p>
        </p:txBody>
      </p:sp>
      <p:sp>
        <p:nvSpPr>
          <p:cNvPr id="19" name="TextBox 18"/>
          <p:cNvSpPr txBox="1"/>
          <p:nvPr/>
        </p:nvSpPr>
        <p:spPr>
          <a:xfrm>
            <a:off x="9153144" y="1691640"/>
            <a:ext cx="2551176" cy="320040"/>
          </a:xfrm>
          <a:prstGeom prst="rect">
            <a:avLst/>
          </a:prstGeom>
          <a:noFill/>
        </p:spPr>
        <p:txBody>
          <a:bodyPr wrap="square" anchor="t" lIns="45720" rIns="45720">
            <a:spAutoFit/>
          </a:bodyPr>
          <a:lstStyle/>
          <a:p>
            <a:pPr algn="l"/>
            <a:r>
              <a:rPr sz="1000" b="1" i="0" lang="sv-SE">
                <a:solidFill>
                  <a:srgbClr val="B44B6F"/>
                </a:solidFill>
              </a:rPr>
              <a:t>VAR FINNS MATERIALET?</a:t>
            </a:r>
          </a:p>
        </p:txBody>
      </p:sp>
      <p:sp>
        <p:nvSpPr>
          <p:cNvPr id="20" name="TextBox 19"/>
          <p:cNvSpPr txBox="1"/>
          <p:nvPr/>
        </p:nvSpPr>
        <p:spPr>
          <a:xfrm>
            <a:off x="8330184" y="2286000"/>
            <a:ext cx="3282696" cy="2926080"/>
          </a:xfrm>
          <a:prstGeom prst="rect">
            <a:avLst/>
          </a:prstGeom>
          <a:noFill/>
        </p:spPr>
        <p:txBody>
          <a:bodyPr wrap="square" anchor="t" lIns="45720" rIns="45720">
            <a:spAutoFit/>
          </a:bodyPr>
          <a:lstStyle/>
          <a:p>
            <a:pPr algn="l">
              <a:spcAft>
                <a:spcPts val="800"/>
              </a:spcAft>
            </a:pPr>
            <a:r>
              <a:rPr sz="1500" b="0" i="0" lang="sv-SE">
                <a:solidFill>
                  <a:srgbClr val="222222"/>
                </a:solidFill>
              </a:rPr>
              <a:t>”Kan du söka fram material med samisk relevans i Riksarkivets HTR:ade arkiv?”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sv-SE"/>
              <a:t>Så kopplar du upp dig</a:t>
            </a:r>
          </a:p>
        </p:txBody>
      </p:sp>
      <p:sp>
        <p:nvSpPr>
          <p:cNvPr id="3" name="Rounded Rectangle 2"/>
          <p:cNvSpPr/>
          <p:nvPr/>
        </p:nvSpPr>
        <p:spPr>
          <a:xfrm>
            <a:off x="347472" y="1097280"/>
            <a:ext cx="11494008" cy="868680"/>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48640" y="1243584"/>
            <a:ext cx="566928" cy="566928"/>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nk_w.png"/>
          <p:cNvPicPr>
            <a:picLocks noChangeAspect="1"/>
          </p:cNvPicPr>
          <p:nvPr/>
        </p:nvPicPr>
        <p:blipFill>
          <a:blip r:embed="rId2"/>
          <a:stretch>
            <a:fillRect/>
          </a:stretch>
        </p:blipFill>
        <p:spPr>
          <a:xfrm>
            <a:off x="690372" y="1385316"/>
            <a:ext cx="283464" cy="283464"/>
          </a:xfrm>
          <a:prstGeom prst="rect">
            <a:avLst/>
          </a:prstGeom>
        </p:spPr>
      </p:pic>
      <p:sp>
        <p:nvSpPr>
          <p:cNvPr id="6" name="TextBox 5"/>
          <p:cNvSpPr txBox="1"/>
          <p:nvPr/>
        </p:nvSpPr>
        <p:spPr>
          <a:xfrm>
            <a:off x="1280160" y="1161288"/>
            <a:ext cx="6309360" cy="731520"/>
          </a:xfrm>
          <a:prstGeom prst="rect">
            <a:avLst/>
          </a:prstGeom>
          <a:noFill/>
        </p:spPr>
        <p:txBody>
          <a:bodyPr wrap="square" anchor="ctr" lIns="45720" rIns="45720">
            <a:spAutoFit/>
          </a:bodyPr>
          <a:lstStyle/>
          <a:p>
            <a:pPr algn="l"/>
            <a:r>
              <a:rPr sz="1200" b="1" i="0" lang="sv-SE">
                <a:solidFill>
                  <a:srgbClr val="F7DFE6"/>
                </a:solidFill>
              </a:rPr>
              <a:t>Adress</a:t>
            </a:r>
          </a:p>
          <a:p>
            <a:pPr algn="l"/>
            <a:r>
              <a:rPr sz="1800" b="1" i="0" lang="sv-SE">
                <a:solidFill>
                  <a:srgbClr val="FFFFFF"/>
                </a:solidFill>
                <a:latin typeface="Courier New"/>
              </a:rPr>
              <a:t>https://riksarkivet-ra-mcp.hf.space/mcp</a:t>
            </a:r>
          </a:p>
        </p:txBody>
      </p:sp>
      <p:sp>
        <p:nvSpPr>
          <p:cNvPr id="7" name="TextBox 6"/>
          <p:cNvSpPr txBox="1"/>
          <p:nvPr/>
        </p:nvSpPr>
        <p:spPr>
          <a:xfrm>
            <a:off x="7680960" y="1161288"/>
            <a:ext cx="4023360" cy="731520"/>
          </a:xfrm>
          <a:prstGeom prst="rect">
            <a:avLst/>
          </a:prstGeom>
          <a:noFill/>
        </p:spPr>
        <p:txBody>
          <a:bodyPr wrap="square" anchor="ctr" lIns="45720" rIns="45720">
            <a:spAutoFit/>
          </a:bodyPr>
          <a:lstStyle/>
          <a:p>
            <a:pPr algn="l"/>
            <a:r>
              <a:rPr sz="1200" b="1" i="0" lang="sv-SE">
                <a:solidFill>
                  <a:srgbClr val="F7DFE6"/>
                </a:solidFill>
              </a:rPr>
              <a:t>Inloggning</a:t>
            </a:r>
          </a:p>
          <a:p>
            <a:pPr algn="l"/>
            <a:r>
              <a:rPr sz="1300" b="0" i="0" lang="sv-SE">
                <a:solidFill>
                  <a:srgbClr val="FFFFFF"/>
                </a:solidFill>
              </a:rPr>
              <a:t>Ingen mot RA-MCP – men din AI-assistent kräver eget konto, ofta betald plan</a:t>
            </a:r>
          </a:p>
        </p:txBody>
      </p:sp>
      <p:sp>
        <p:nvSpPr>
          <p:cNvPr id="8" name="Rounded Rectangle 7"/>
          <p:cNvSpPr/>
          <p:nvPr/>
        </p:nvSpPr>
        <p:spPr>
          <a:xfrm>
            <a:off x="347472" y="2194560"/>
            <a:ext cx="667512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530352" y="2423160"/>
            <a:ext cx="594360" cy="5943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423160"/>
            <a:ext cx="594360" cy="594360"/>
          </a:xfrm>
          <a:prstGeom prst="rect">
            <a:avLst/>
          </a:prstGeom>
          <a:noFill/>
        </p:spPr>
        <p:txBody>
          <a:bodyPr wrap="square" anchor="ctr" lIns="45720" rIns="45720">
            <a:spAutoFit/>
          </a:bodyPr>
          <a:lstStyle/>
          <a:p>
            <a:pPr algn="ctr"/>
            <a:r>
              <a:rPr sz="2200" b="1" i="0" lang="sv-SE">
                <a:solidFill>
                  <a:srgbClr val="FFFFFF"/>
                </a:solidFill>
              </a:rPr>
              <a:t>1</a:t>
            </a:r>
          </a:p>
        </p:txBody>
      </p:sp>
      <p:sp>
        <p:nvSpPr>
          <p:cNvPr id="11" name="TextBox 10"/>
          <p:cNvSpPr txBox="1"/>
          <p:nvPr/>
        </p:nvSpPr>
        <p:spPr>
          <a:xfrm>
            <a:off x="1325880" y="2304288"/>
            <a:ext cx="5577840" cy="365760"/>
          </a:xfrm>
          <a:prstGeom prst="rect">
            <a:avLst/>
          </a:prstGeom>
          <a:noFill/>
        </p:spPr>
        <p:txBody>
          <a:bodyPr wrap="square" anchor="t" lIns="45720" rIns="45720">
            <a:spAutoFit/>
          </a:bodyPr>
          <a:lstStyle/>
          <a:p>
            <a:pPr algn="l"/>
            <a:r>
              <a:rPr sz="1700" b="1" i="0" lang="sv-SE">
                <a:solidFill>
                  <a:srgbClr val="222222"/>
                </a:solidFill>
              </a:rPr>
              <a:t>Öppna anslutningarna</a:t>
            </a:r>
          </a:p>
        </p:txBody>
      </p:sp>
      <p:sp>
        <p:nvSpPr>
          <p:cNvPr id="12" name="TextBox 11"/>
          <p:cNvSpPr txBox="1"/>
          <p:nvPr/>
        </p:nvSpPr>
        <p:spPr>
          <a:xfrm>
            <a:off x="1325880" y="2651760"/>
            <a:ext cx="5577840" cy="548640"/>
          </a:xfrm>
          <a:prstGeom prst="rect">
            <a:avLst/>
          </a:prstGeom>
          <a:noFill/>
        </p:spPr>
        <p:txBody>
          <a:bodyPr wrap="square" anchor="t" lIns="45720" rIns="45720">
            <a:spAutoFit/>
          </a:bodyPr>
          <a:lstStyle/>
          <a:p>
            <a:pPr algn="l"/>
            <a:r>
              <a:rPr sz="1400" b="0" i="0" lang="sv-SE">
                <a:solidFill>
                  <a:srgbClr val="5A5A5A"/>
                </a:solidFill>
              </a:rPr>
              <a:t>I din AI-assistents inställningar: Anslutningar, Connectors eller Integrationer</a:t>
            </a:r>
          </a:p>
        </p:txBody>
      </p:sp>
      <p:sp>
        <p:nvSpPr>
          <p:cNvPr id="13" name="Rounded Rectangle 12"/>
          <p:cNvSpPr/>
          <p:nvPr/>
        </p:nvSpPr>
        <p:spPr>
          <a:xfrm>
            <a:off x="347472" y="3383280"/>
            <a:ext cx="667512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30352" y="3611880"/>
            <a:ext cx="594360" cy="5943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3611880"/>
            <a:ext cx="594360" cy="594360"/>
          </a:xfrm>
          <a:prstGeom prst="rect">
            <a:avLst/>
          </a:prstGeom>
          <a:noFill/>
        </p:spPr>
        <p:txBody>
          <a:bodyPr wrap="square" anchor="ctr" lIns="45720" rIns="45720">
            <a:spAutoFit/>
          </a:bodyPr>
          <a:lstStyle/>
          <a:p>
            <a:pPr algn="ctr"/>
            <a:r>
              <a:rPr sz="2200" b="1" i="0" lang="sv-SE">
                <a:solidFill>
                  <a:srgbClr val="FFFFFF"/>
                </a:solidFill>
              </a:rPr>
              <a:t>2</a:t>
            </a:r>
          </a:p>
        </p:txBody>
      </p:sp>
      <p:sp>
        <p:nvSpPr>
          <p:cNvPr id="16" name="TextBox 15"/>
          <p:cNvSpPr txBox="1"/>
          <p:nvPr/>
        </p:nvSpPr>
        <p:spPr>
          <a:xfrm>
            <a:off x="1325880" y="3493008"/>
            <a:ext cx="5577840" cy="365760"/>
          </a:xfrm>
          <a:prstGeom prst="rect">
            <a:avLst/>
          </a:prstGeom>
          <a:noFill/>
        </p:spPr>
        <p:txBody>
          <a:bodyPr wrap="square" anchor="t" lIns="45720" rIns="45720">
            <a:spAutoFit/>
          </a:bodyPr>
          <a:lstStyle/>
          <a:p>
            <a:pPr algn="l"/>
            <a:r>
              <a:rPr sz="1700" b="1" i="0" lang="sv-SE">
                <a:solidFill>
                  <a:srgbClr val="222222"/>
                </a:solidFill>
              </a:rPr>
              <a:t>Lägg till RA-MCP</a:t>
            </a:r>
          </a:p>
        </p:txBody>
      </p:sp>
      <p:sp>
        <p:nvSpPr>
          <p:cNvPr id="17" name="TextBox 16"/>
          <p:cNvSpPr txBox="1"/>
          <p:nvPr/>
        </p:nvSpPr>
        <p:spPr>
          <a:xfrm>
            <a:off x="1325880" y="3840480"/>
            <a:ext cx="5577840" cy="548640"/>
          </a:xfrm>
          <a:prstGeom prst="rect">
            <a:avLst/>
          </a:prstGeom>
          <a:noFill/>
        </p:spPr>
        <p:txBody>
          <a:bodyPr wrap="square" anchor="t" lIns="45720" rIns="45720">
            <a:spAutoFit/>
          </a:bodyPr>
          <a:lstStyle/>
          <a:p>
            <a:pPr algn="l"/>
            <a:r>
              <a:rPr sz="1400" b="0" i="0" lang="sv-SE">
                <a:solidFill>
                  <a:srgbClr val="5A5A5A"/>
                </a:solidFill>
              </a:rPr>
              <a:t>Välj ”Lägg till anpassad anslutning”, skriv namnet RA-MCP och klistra in adressen</a:t>
            </a:r>
          </a:p>
        </p:txBody>
      </p:sp>
      <p:sp>
        <p:nvSpPr>
          <p:cNvPr id="18" name="Rounded Rectangle 17"/>
          <p:cNvSpPr/>
          <p:nvPr/>
        </p:nvSpPr>
        <p:spPr>
          <a:xfrm>
            <a:off x="347472" y="4572000"/>
            <a:ext cx="6675120" cy="10515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30352" y="4800600"/>
            <a:ext cx="594360" cy="59436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800600"/>
            <a:ext cx="594360" cy="594360"/>
          </a:xfrm>
          <a:prstGeom prst="rect">
            <a:avLst/>
          </a:prstGeom>
          <a:noFill/>
        </p:spPr>
        <p:txBody>
          <a:bodyPr wrap="square" anchor="ctr" lIns="45720" rIns="45720">
            <a:spAutoFit/>
          </a:bodyPr>
          <a:lstStyle/>
          <a:p>
            <a:pPr algn="ctr"/>
            <a:r>
              <a:rPr sz="2200" b="1" i="0" lang="sv-SE">
                <a:solidFill>
                  <a:srgbClr val="FFFFFF"/>
                </a:solidFill>
              </a:rPr>
              <a:t>3</a:t>
            </a:r>
          </a:p>
        </p:txBody>
      </p:sp>
      <p:sp>
        <p:nvSpPr>
          <p:cNvPr id="21" name="TextBox 20"/>
          <p:cNvSpPr txBox="1"/>
          <p:nvPr/>
        </p:nvSpPr>
        <p:spPr>
          <a:xfrm>
            <a:off x="1325880" y="4681728"/>
            <a:ext cx="5577840" cy="365760"/>
          </a:xfrm>
          <a:prstGeom prst="rect">
            <a:avLst/>
          </a:prstGeom>
          <a:noFill/>
        </p:spPr>
        <p:txBody>
          <a:bodyPr wrap="square" anchor="t" lIns="45720" rIns="45720">
            <a:spAutoFit/>
          </a:bodyPr>
          <a:lstStyle/>
          <a:p>
            <a:pPr algn="l"/>
            <a:r>
              <a:rPr sz="1700" b="1" i="0" lang="sv-SE">
                <a:solidFill>
                  <a:srgbClr val="222222"/>
                </a:solidFill>
              </a:rPr>
              <a:t>Slå på och fråga</a:t>
            </a:r>
          </a:p>
        </p:txBody>
      </p:sp>
      <p:sp>
        <p:nvSpPr>
          <p:cNvPr id="22" name="TextBox 21"/>
          <p:cNvSpPr txBox="1"/>
          <p:nvPr/>
        </p:nvSpPr>
        <p:spPr>
          <a:xfrm>
            <a:off x="1325880" y="5029200"/>
            <a:ext cx="5577840" cy="548640"/>
          </a:xfrm>
          <a:prstGeom prst="rect">
            <a:avLst/>
          </a:prstGeom>
          <a:noFill/>
        </p:spPr>
        <p:txBody>
          <a:bodyPr wrap="square" anchor="t" lIns="45720" rIns="45720">
            <a:spAutoFit/>
          </a:bodyPr>
          <a:lstStyle/>
          <a:p>
            <a:pPr algn="l"/>
            <a:r>
              <a:rPr sz="1400" b="0" i="0" lang="sv-SE">
                <a:solidFill>
                  <a:srgbClr val="5A5A5A"/>
                </a:solidFill>
              </a:rPr>
              <a:t>Aktivera RA-MCP i chatten och testa: ”Vem var Marie Louise Gagner?”</a:t>
            </a:r>
          </a:p>
        </p:txBody>
      </p:sp>
      <p:sp>
        <p:nvSpPr>
          <p:cNvPr id="23" name="Rounded Rectangle 22"/>
          <p:cNvSpPr/>
          <p:nvPr/>
        </p:nvSpPr>
        <p:spPr>
          <a:xfrm>
            <a:off x="7269480" y="2194560"/>
            <a:ext cx="4572000" cy="3429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269480" y="2194560"/>
            <a:ext cx="4572000" cy="411480"/>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9480" y="2468879"/>
            <a:ext cx="4572000" cy="137160"/>
          </a:xfrm>
          <a:prstGeom prst="rect">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434072" y="2350008"/>
            <a:ext cx="100584" cy="100584"/>
          </a:xfrm>
          <a:prstGeom prst="ellipse">
            <a:avLst/>
          </a:prstGeom>
          <a:solidFill>
            <a:srgbClr val="F7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16952" y="2350008"/>
            <a:ext cx="100584" cy="100584"/>
          </a:xfrm>
          <a:prstGeom prst="ellipse">
            <a:avLst/>
          </a:prstGeom>
          <a:solidFill>
            <a:srgbClr val="F7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99832" y="2350008"/>
            <a:ext cx="100584" cy="100584"/>
          </a:xfrm>
          <a:prstGeom prst="ellipse">
            <a:avLst/>
          </a:prstGeom>
          <a:solidFill>
            <a:srgbClr val="F7D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0" y="2194560"/>
            <a:ext cx="3657600" cy="411480"/>
          </a:xfrm>
          <a:prstGeom prst="rect">
            <a:avLst/>
          </a:prstGeom>
          <a:noFill/>
        </p:spPr>
        <p:txBody>
          <a:bodyPr wrap="square" anchor="ctr" lIns="45720" rIns="45720">
            <a:spAutoFit/>
          </a:bodyPr>
          <a:lstStyle/>
          <a:p>
            <a:pPr algn="l"/>
            <a:r>
              <a:rPr sz="1300" b="1" i="0" lang="sv-SE">
                <a:solidFill>
                  <a:srgbClr val="FFFFFF"/>
                </a:solidFill>
              </a:rPr>
              <a:t>Lägg till anpassad anslutning</a:t>
            </a:r>
          </a:p>
        </p:txBody>
      </p:sp>
      <p:sp>
        <p:nvSpPr>
          <p:cNvPr id="30" name="TextBox 29"/>
          <p:cNvSpPr txBox="1"/>
          <p:nvPr/>
        </p:nvSpPr>
        <p:spPr>
          <a:xfrm>
            <a:off x="7543800" y="2834639"/>
            <a:ext cx="4023360" cy="274320"/>
          </a:xfrm>
          <a:prstGeom prst="rect">
            <a:avLst/>
          </a:prstGeom>
          <a:noFill/>
        </p:spPr>
        <p:txBody>
          <a:bodyPr wrap="square" anchor="t" lIns="45720" rIns="45720">
            <a:spAutoFit/>
          </a:bodyPr>
          <a:lstStyle/>
          <a:p>
            <a:pPr algn="l"/>
            <a:r>
              <a:rPr sz="1200" b="1" i="0" lang="sv-SE">
                <a:solidFill>
                  <a:srgbClr val="5A5A5A"/>
                </a:solidFill>
              </a:rPr>
              <a:t>Namn</a:t>
            </a:r>
          </a:p>
        </p:txBody>
      </p:sp>
      <p:sp>
        <p:nvSpPr>
          <p:cNvPr id="31" name="Rounded Rectangle 30"/>
          <p:cNvSpPr/>
          <p:nvPr/>
        </p:nvSpPr>
        <p:spPr>
          <a:xfrm>
            <a:off x="7543800" y="3108960"/>
            <a:ext cx="4023360" cy="457200"/>
          </a:xfrm>
          <a:prstGeom prst="roundRect">
            <a:avLst>
              <a:gd name="adj" fmla="val 15000"/>
            </a:avLst>
          </a:prstGeom>
          <a:solidFill>
            <a:srgbClr val="FAFAFA"/>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0" y="3108960"/>
            <a:ext cx="3840480" cy="457200"/>
          </a:xfrm>
          <a:prstGeom prst="rect">
            <a:avLst/>
          </a:prstGeom>
          <a:noFill/>
        </p:spPr>
        <p:txBody>
          <a:bodyPr wrap="square" anchor="ctr" lIns="45720" rIns="45720">
            <a:spAutoFit/>
          </a:bodyPr>
          <a:lstStyle/>
          <a:p>
            <a:pPr algn="l"/>
            <a:r>
              <a:rPr sz="1400" b="0" i="0" lang="sv-SE">
                <a:solidFill>
                  <a:srgbClr val="222222"/>
                </a:solidFill>
              </a:rPr>
              <a:t>RA-MCP</a:t>
            </a:r>
          </a:p>
        </p:txBody>
      </p:sp>
      <p:sp>
        <p:nvSpPr>
          <p:cNvPr id="33" name="TextBox 32"/>
          <p:cNvSpPr txBox="1"/>
          <p:nvPr/>
        </p:nvSpPr>
        <p:spPr>
          <a:xfrm>
            <a:off x="7543800" y="3749039"/>
            <a:ext cx="4023360" cy="274320"/>
          </a:xfrm>
          <a:prstGeom prst="rect">
            <a:avLst/>
          </a:prstGeom>
          <a:noFill/>
        </p:spPr>
        <p:txBody>
          <a:bodyPr wrap="square" anchor="t" lIns="45720" rIns="45720">
            <a:spAutoFit/>
          </a:bodyPr>
          <a:lstStyle/>
          <a:p>
            <a:pPr algn="l"/>
            <a:r>
              <a:rPr sz="1200" b="1" i="0" lang="sv-SE">
                <a:solidFill>
                  <a:srgbClr val="5A5A5A"/>
                </a:solidFill>
              </a:rPr>
              <a:t>Serverns adress (URL)</a:t>
            </a:r>
          </a:p>
        </p:txBody>
      </p:sp>
      <p:sp>
        <p:nvSpPr>
          <p:cNvPr id="34" name="Rounded Rectangle 33"/>
          <p:cNvSpPr/>
          <p:nvPr/>
        </p:nvSpPr>
        <p:spPr>
          <a:xfrm>
            <a:off x="7543800" y="4023360"/>
            <a:ext cx="4023360" cy="457200"/>
          </a:xfrm>
          <a:prstGeom prst="roundRect">
            <a:avLst>
              <a:gd name="adj" fmla="val 15000"/>
            </a:avLst>
          </a:prstGeom>
          <a:solidFill>
            <a:srgbClr val="FAFAFA"/>
          </a:solidFill>
          <a:ln w="12700">
            <a:solidFill>
              <a:srgbClr val="B44B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0" y="4023360"/>
            <a:ext cx="3840480" cy="457200"/>
          </a:xfrm>
          <a:prstGeom prst="rect">
            <a:avLst/>
          </a:prstGeom>
          <a:noFill/>
        </p:spPr>
        <p:txBody>
          <a:bodyPr wrap="square" anchor="ctr" lIns="45720" rIns="45720">
            <a:spAutoFit/>
          </a:bodyPr>
          <a:lstStyle/>
          <a:p>
            <a:pPr algn="l"/>
            <a:r>
              <a:rPr sz="1100" b="0" i="0" lang="sv-SE">
                <a:solidFill>
                  <a:srgbClr val="222222"/>
                </a:solidFill>
                <a:latin typeface="Courier New"/>
              </a:rPr>
              <a:t>https://riksarkivet-ra-mcp.hf.space/mcp</a:t>
            </a:r>
          </a:p>
        </p:txBody>
      </p:sp>
      <p:sp>
        <p:nvSpPr>
          <p:cNvPr id="36" name="Rounded Rectangle 35"/>
          <p:cNvSpPr/>
          <p:nvPr/>
        </p:nvSpPr>
        <p:spPr>
          <a:xfrm>
            <a:off x="10195560" y="4846320"/>
            <a:ext cx="1371600" cy="457200"/>
          </a:xfrm>
          <a:prstGeom prst="roundRect">
            <a:avLst>
              <a:gd name="adj" fmla="val 30000"/>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95560" y="4846320"/>
            <a:ext cx="1371600" cy="457200"/>
          </a:xfrm>
          <a:prstGeom prst="rect">
            <a:avLst/>
          </a:prstGeom>
          <a:noFill/>
        </p:spPr>
        <p:txBody>
          <a:bodyPr wrap="square" anchor="ctr" lIns="45720" rIns="45720">
            <a:spAutoFit/>
          </a:bodyPr>
          <a:lstStyle/>
          <a:p>
            <a:pPr algn="ctr"/>
            <a:r>
              <a:rPr sz="1300" b="1" i="0" lang="sv-SE">
                <a:solidFill>
                  <a:srgbClr val="FFFFFF"/>
                </a:solidFill>
              </a:rPr>
              <a:t>Lägg till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lang="sv-SE"/>
              <a:t>Status, gränser och kontakt</a:t>
            </a:r>
          </a:p>
        </p:txBody>
      </p:sp>
      <p:sp>
        <p:nvSpPr>
          <p:cNvPr id="3" name="Rounded Rectangle 2"/>
          <p:cNvSpPr/>
          <p:nvPr/>
        </p:nvSpPr>
        <p:spPr>
          <a:xfrm>
            <a:off x="347472" y="1097280"/>
            <a:ext cx="373989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76072" y="128016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lask_w.png"/>
          <p:cNvPicPr>
            <a:picLocks noChangeAspect="1"/>
          </p:cNvPicPr>
          <p:nvPr/>
        </p:nvPicPr>
        <p:blipFill>
          <a:blip r:embed="rId2"/>
          <a:stretch>
            <a:fillRect/>
          </a:stretch>
        </p:blipFill>
        <p:spPr>
          <a:xfrm>
            <a:off x="747522" y="1451610"/>
            <a:ext cx="342900" cy="342900"/>
          </a:xfrm>
          <a:prstGeom prst="rect">
            <a:avLst/>
          </a:prstGeom>
        </p:spPr>
      </p:pic>
      <p:sp>
        <p:nvSpPr>
          <p:cNvPr id="6" name="TextBox 5"/>
          <p:cNvSpPr txBox="1"/>
          <p:nvPr/>
        </p:nvSpPr>
        <p:spPr>
          <a:xfrm>
            <a:off x="1399031" y="1280160"/>
            <a:ext cx="2606040" cy="685800"/>
          </a:xfrm>
          <a:prstGeom prst="rect">
            <a:avLst/>
          </a:prstGeom>
          <a:noFill/>
        </p:spPr>
        <p:txBody>
          <a:bodyPr wrap="square" anchor="ctr" lIns="45720" rIns="45720">
            <a:spAutoFit/>
          </a:bodyPr>
          <a:lstStyle/>
          <a:p>
            <a:pPr algn="l"/>
            <a:r>
              <a:rPr sz="1800" b="1" i="0" lang="sv-SE">
                <a:solidFill>
                  <a:srgbClr val="222222"/>
                </a:solidFill>
              </a:rPr>
              <a:t>Betatest hösten 2026</a:t>
            </a:r>
          </a:p>
        </p:txBody>
      </p:sp>
      <p:sp>
        <p:nvSpPr>
          <p:cNvPr id="7" name="TextBox 6"/>
          <p:cNvSpPr txBox="1"/>
          <p:nvPr/>
        </p:nvSpPr>
        <p:spPr>
          <a:xfrm>
            <a:off x="576072" y="2148840"/>
            <a:ext cx="3337560" cy="2834640"/>
          </a:xfrm>
          <a:prstGeom prst="rect">
            <a:avLst/>
          </a:prstGeom>
          <a:noFill/>
        </p:spPr>
        <p:txBody>
          <a:bodyPr wrap="square" anchor="t" lIns="45720" rIns="45720">
            <a:spAutoFit/>
          </a:bodyPr>
          <a:lstStyle/>
          <a:p>
            <a:pPr algn="l" marL="201168" indent="-201168">
              <a:spcAft>
                <a:spcPts val="800"/>
              </a:spcAft>
              <a:buClr>
                <a:srgbClr val="B44B6F"/>
              </a:buClr>
              <a:buChar char="•"/>
            </a:pPr>
            <a:r>
              <a:rPr sz="1400" b="0" i="0" lang="sv-SE">
                <a:solidFill>
                  <a:srgbClr val="222222"/>
                </a:solidFill>
              </a:rPr>
              <a:t>Öppen beta sedan september, pågår året ut</a:t>
            </a:r>
          </a:p>
          <a:p>
            <a:pPr algn="l" marL="201168" indent="-201168">
              <a:spcAft>
                <a:spcPts val="800"/>
              </a:spcAft>
              <a:buClr>
                <a:srgbClr val="B44B6F"/>
              </a:buClr>
              <a:buChar char="•"/>
            </a:pPr>
            <a:r>
              <a:rPr sz="1400" b="0" i="0" lang="sv-SE">
                <a:solidFill>
                  <a:srgbClr val="222222"/>
                </a:solidFill>
              </a:rPr>
              <a:t>Vi lär oss av enkäten, intervjuer och anonymiserade loggar</a:t>
            </a:r>
          </a:p>
          <a:p>
            <a:pPr algn="l" marL="201168" indent="-201168">
              <a:spcAft>
                <a:spcPts val="800"/>
              </a:spcAft>
              <a:buClr>
                <a:srgbClr val="B44B6F"/>
              </a:buClr>
              <a:buChar char="•"/>
            </a:pPr>
            <a:r>
              <a:rPr sz="1400" b="0" i="0" lang="sv-SE">
                <a:solidFill>
                  <a:srgbClr val="222222"/>
                </a:solidFill>
              </a:rPr>
              <a:t>Prestanda kan vara ojämn – servern ligger på Hugging Face</a:t>
            </a:r>
          </a:p>
        </p:txBody>
      </p:sp>
      <p:sp>
        <p:nvSpPr>
          <p:cNvPr id="8" name="Rounded Rectangle 7"/>
          <p:cNvSpPr/>
          <p:nvPr/>
        </p:nvSpPr>
        <p:spPr>
          <a:xfrm>
            <a:off x="4224528" y="1097280"/>
            <a:ext cx="373989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453128" y="1280160"/>
            <a:ext cx="685800" cy="685800"/>
          </a:xfrm>
          <a:prstGeom prst="ellipse">
            <a:avLst/>
          </a:prstGeom>
          <a:solidFill>
            <a:srgbClr val="B44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ban_w.png"/>
          <p:cNvPicPr>
            <a:picLocks noChangeAspect="1"/>
          </p:cNvPicPr>
          <p:nvPr/>
        </p:nvPicPr>
        <p:blipFill>
          <a:blip r:embed="rId3"/>
          <a:stretch>
            <a:fillRect/>
          </a:stretch>
        </p:blipFill>
        <p:spPr>
          <a:xfrm>
            <a:off x="4624578" y="1451610"/>
            <a:ext cx="342900" cy="342900"/>
          </a:xfrm>
          <a:prstGeom prst="rect">
            <a:avLst/>
          </a:prstGeom>
        </p:spPr>
      </p:pic>
      <p:sp>
        <p:nvSpPr>
          <p:cNvPr id="11" name="TextBox 10"/>
          <p:cNvSpPr txBox="1"/>
          <p:nvPr/>
        </p:nvSpPr>
        <p:spPr>
          <a:xfrm>
            <a:off x="5276088" y="1280160"/>
            <a:ext cx="2606040" cy="685800"/>
          </a:xfrm>
          <a:prstGeom prst="rect">
            <a:avLst/>
          </a:prstGeom>
          <a:noFill/>
        </p:spPr>
        <p:txBody>
          <a:bodyPr wrap="square" anchor="ctr" lIns="45720" rIns="45720">
            <a:spAutoFit/>
          </a:bodyPr>
          <a:lstStyle/>
          <a:p>
            <a:pPr algn="l"/>
            <a:r>
              <a:rPr sz="1800" b="1" i="0" lang="sv-SE">
                <a:solidFill>
                  <a:srgbClr val="222222"/>
                </a:solidFill>
              </a:rPr>
              <a:t>Fungerar inte än</a:t>
            </a:r>
          </a:p>
        </p:txBody>
      </p:sp>
      <p:sp>
        <p:nvSpPr>
          <p:cNvPr id="12" name="TextBox 11"/>
          <p:cNvSpPr txBox="1"/>
          <p:nvPr/>
        </p:nvSpPr>
        <p:spPr>
          <a:xfrm>
            <a:off x="4453128" y="2148840"/>
            <a:ext cx="3337560" cy="2834640"/>
          </a:xfrm>
          <a:prstGeom prst="rect">
            <a:avLst/>
          </a:prstGeom>
          <a:noFill/>
        </p:spPr>
        <p:txBody>
          <a:bodyPr wrap="square" anchor="t" lIns="45720" rIns="45720">
            <a:spAutoFit/>
          </a:bodyPr>
          <a:lstStyle/>
          <a:p>
            <a:pPr algn="l" marL="201168" indent="-201168">
              <a:spcAft>
                <a:spcPts val="800"/>
              </a:spcAft>
              <a:buClr>
                <a:srgbClr val="B44B6F"/>
              </a:buClr>
              <a:buChar char="•"/>
            </a:pPr>
            <a:r>
              <a:rPr sz="1400" b="0" i="0" lang="sv-SE">
                <a:solidFill>
                  <a:srgbClr val="222222"/>
                </a:solidFill>
              </a:rPr>
              <a:t>HTR på begäran (htr_transcribe) är avstängd i den öppna servern</a:t>
            </a:r>
          </a:p>
          <a:p>
            <a:pPr algn="l" marL="201168" indent="-201168">
              <a:spcAft>
                <a:spcPts val="800"/>
              </a:spcAft>
              <a:buClr>
                <a:srgbClr val="B44B6F"/>
              </a:buClr>
              <a:buChar char="•"/>
            </a:pPr>
            <a:r>
              <a:rPr sz="1400" b="0" i="0" lang="sv-SE">
                <a:solidFill>
                  <a:srgbClr val="222222"/>
                </a:solidFill>
              </a:rPr>
              <a:t>Exporten till Label Studio (label) är avstängd</a:t>
            </a:r>
          </a:p>
          <a:p>
            <a:pPr algn="l" marL="201168" indent="-201168">
              <a:spcAft>
                <a:spcPts val="800"/>
              </a:spcAft>
              <a:buClr>
                <a:srgbClr val="B44B6F"/>
              </a:buClr>
              <a:buChar char="•"/>
            </a:pPr>
            <a:r>
              <a:rPr sz="1400" b="0" i="0" lang="sv-SE">
                <a:solidFill>
                  <a:srgbClr val="222222"/>
                </a:solidFill>
              </a:rPr>
              <a:t>Alla källor är inte kopplade – det som saknas ser AI:n inte</a:t>
            </a:r>
          </a:p>
          <a:p>
            <a:pPr algn="l" marL="201168" indent="-201168">
              <a:spcAft>
                <a:spcPts val="800"/>
              </a:spcAft>
              <a:buClr>
                <a:srgbClr val="B44B6F"/>
              </a:buClr>
              <a:buChar char="•"/>
            </a:pPr>
            <a:r>
              <a:rPr sz="1400" b="0" i="0" lang="sv-SE">
                <a:solidFill>
                  <a:srgbClr val="222222"/>
                </a:solidFill>
              </a:rPr>
              <a:t>Transkriberad text finns främst för domstolsmaterial 1600–1700-tal – inte för kyrkböcker</a:t>
            </a:r>
          </a:p>
          <a:p>
            <a:pPr algn="l" marL="201168" indent="-201168">
              <a:spcAft>
                <a:spcPts val="800"/>
              </a:spcAft>
              <a:buClr>
                <a:srgbClr val="B44B6F"/>
              </a:buClr>
              <a:buChar char="•"/>
            </a:pPr>
            <a:r>
              <a:rPr sz="1400" b="0" i="0" lang="sv-SE">
                <a:solidFill>
                  <a:srgbClr val="222222"/>
                </a:solidFill>
              </a:rPr>
              <a:t>Tomt svar ≠ finns inte</a:t>
            </a:r>
          </a:p>
        </p:txBody>
      </p:sp>
      <p:sp>
        <p:nvSpPr>
          <p:cNvPr id="13" name="Rounded Rectangle 12"/>
          <p:cNvSpPr/>
          <p:nvPr/>
        </p:nvSpPr>
        <p:spPr>
          <a:xfrm>
            <a:off x="8101584" y="1097280"/>
            <a:ext cx="373989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30184" y="1280160"/>
            <a:ext cx="685800" cy="685800"/>
          </a:xfrm>
          <a:prstGeom prst="ellipse">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ug_w.png"/>
          <p:cNvPicPr>
            <a:picLocks noChangeAspect="1"/>
          </p:cNvPicPr>
          <p:nvPr/>
        </p:nvPicPr>
        <p:blipFill>
          <a:blip r:embed="rId4"/>
          <a:stretch>
            <a:fillRect/>
          </a:stretch>
        </p:blipFill>
        <p:spPr>
          <a:xfrm>
            <a:off x="8501634" y="1451610"/>
            <a:ext cx="342900" cy="342900"/>
          </a:xfrm>
          <a:prstGeom prst="rect">
            <a:avLst/>
          </a:prstGeom>
        </p:spPr>
      </p:pic>
      <p:sp>
        <p:nvSpPr>
          <p:cNvPr id="16" name="TextBox 15"/>
          <p:cNvSpPr txBox="1"/>
          <p:nvPr/>
        </p:nvSpPr>
        <p:spPr>
          <a:xfrm>
            <a:off x="9153144" y="1280160"/>
            <a:ext cx="2606040" cy="685800"/>
          </a:xfrm>
          <a:prstGeom prst="rect">
            <a:avLst/>
          </a:prstGeom>
          <a:noFill/>
        </p:spPr>
        <p:txBody>
          <a:bodyPr wrap="square" anchor="ctr" lIns="45720" rIns="45720">
            <a:spAutoFit/>
          </a:bodyPr>
          <a:lstStyle/>
          <a:p>
            <a:pPr algn="l"/>
            <a:r>
              <a:rPr sz="1800" b="1" i="0" lang="sv-SE">
                <a:solidFill>
                  <a:srgbClr val="222222"/>
                </a:solidFill>
              </a:rPr>
              <a:t>Rapportera och följ</a:t>
            </a:r>
          </a:p>
        </p:txBody>
      </p:sp>
      <p:sp>
        <p:nvSpPr>
          <p:cNvPr id="17" name="TextBox 16"/>
          <p:cNvSpPr txBox="1"/>
          <p:nvPr/>
        </p:nvSpPr>
        <p:spPr>
          <a:xfrm>
            <a:off x="8330184" y="2148840"/>
            <a:ext cx="3337560" cy="2834640"/>
          </a:xfrm>
          <a:prstGeom prst="rect">
            <a:avLst/>
          </a:prstGeom>
          <a:noFill/>
        </p:spPr>
        <p:txBody>
          <a:bodyPr wrap="square" anchor="t" lIns="45720" rIns="45720">
            <a:spAutoFit/>
          </a:bodyPr>
          <a:lstStyle/>
          <a:p>
            <a:pPr algn="l" marL="201168" indent="-201168">
              <a:spcAft>
                <a:spcPts val="800"/>
              </a:spcAft>
              <a:buClr>
                <a:srgbClr val="004460"/>
              </a:buClr>
              <a:buChar char="•"/>
            </a:pPr>
            <a:r>
              <a:rPr sz="1400" b="1" i="0" lang="sv-SE">
                <a:solidFill>
                  <a:srgbClr val="222222"/>
                </a:solidFill>
              </a:rPr>
              <a:t>Fel och önskemål</a:t>
            </a:r>
            <a:br/>
            <a:r>
              <a:rPr sz="1300" b="0" i="0" lang="sv-SE">
                <a:solidFill>
                  <a:srgbClr val="004460"/>
                </a:solidFill>
                <a:hlinkClick r:id="rId5"/>
              </a:rPr>
              <a:t>AI@riksarkivet.se</a:t>
            </a:r>
          </a:p>
          <a:p>
            <a:pPr algn="l" marL="201168" indent="-201168">
              <a:spcAft>
                <a:spcPts val="800"/>
              </a:spcAft>
              <a:buClr>
                <a:srgbClr val="004460"/>
              </a:buClr>
              <a:buChar char="•"/>
            </a:pPr>
            <a:r>
              <a:rPr sz="1400" b="1" i="0" lang="sv-SE">
                <a:solidFill>
                  <a:srgbClr val="222222"/>
                </a:solidFill>
              </a:rPr>
              <a:t>Utvärdera din testning</a:t>
            </a:r>
            <a:br/>
            <a:r>
              <a:rPr sz="1300" b="0" i="0" lang="sv-SE">
                <a:solidFill>
                  <a:srgbClr val="004460"/>
                </a:solidFill>
                <a:hlinkClick r:id="rId6"/>
              </a:rPr>
              <a:t>Enkäten: Beta Test Survey – RA-MCP</a:t>
            </a:r>
          </a:p>
          <a:p>
            <a:pPr algn="l" marL="201168" indent="-201168">
              <a:spcAft>
                <a:spcPts val="800"/>
              </a:spcAft>
              <a:buClr>
                <a:srgbClr val="004460"/>
              </a:buClr>
              <a:buChar char="•"/>
            </a:pPr>
            <a:r>
              <a:rPr sz="1400" b="1" i="0" lang="sv-SE">
                <a:solidFill>
                  <a:srgbClr val="222222"/>
                </a:solidFill>
              </a:rPr>
              <a:t>Dokumentation</a:t>
            </a:r>
            <a:br/>
            <a:r>
              <a:rPr sz="1300" b="0" i="0" lang="sv-SE">
                <a:solidFill>
                  <a:srgbClr val="004460"/>
                </a:solidFill>
                <a:hlinkClick r:id="rId7"/>
              </a:rPr>
              <a:t>ai-riksarkivet.github.io/ra-mcp</a:t>
            </a:r>
          </a:p>
        </p:txBody>
      </p:sp>
      <p:sp>
        <p:nvSpPr>
          <p:cNvPr id="18" name="Rounded Rectangle 17"/>
          <p:cNvSpPr/>
          <p:nvPr/>
        </p:nvSpPr>
        <p:spPr>
          <a:xfrm>
            <a:off x="347472" y="5285232"/>
            <a:ext cx="11494008" cy="566928"/>
          </a:xfrm>
          <a:prstGeom prst="roundRect">
            <a:avLst>
              <a:gd name="adj" fmla="val 6000"/>
            </a:avLst>
          </a:prstGeom>
          <a:solidFill>
            <a:srgbClr val="0044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285232"/>
            <a:ext cx="11155680" cy="566928"/>
          </a:xfrm>
          <a:prstGeom prst="rect">
            <a:avLst/>
          </a:prstGeom>
          <a:noFill/>
        </p:spPr>
        <p:txBody>
          <a:bodyPr wrap="square" anchor="ctr" lIns="45720" rIns="45720">
            <a:spAutoFit/>
          </a:bodyPr>
          <a:lstStyle/>
          <a:p>
            <a:pPr algn="l"/>
            <a:r>
              <a:rPr sz="1500" b="1" i="0" lang="sv-SE">
                <a:solidFill>
                  <a:srgbClr val="F7DFE6"/>
                </a:solidFill>
              </a:rPr>
              <a:t>Tips:  </a:t>
            </a:r>
            <a:r>
              <a:rPr sz="1500" b="0" i="0" lang="sv-SE">
                <a:solidFill>
                  <a:srgbClr val="FFFFFF"/>
                </a:solidFill>
              </a:rPr>
              <a:t>Fråga alltid ”Var har du sökt?” – och kontrollera mot originalet innan du drar slutsatser.</a:t>
            </a:r>
          </a:p>
        </p:txBody>
      </p:sp>
    </p:spTree>
  </p:cSld>
  <p:clrMapOvr>
    <a:masterClrMapping/>
  </p:clrMapOvr>
</p:sld>
</file>

<file path=ppt/theme/theme1.xml><?xml version="1.0" encoding="utf-8"?>
<a:theme xmlns:a="http://schemas.openxmlformats.org/drawingml/2006/main" name="Office-tema">
  <a:themeElements>
    <a:clrScheme name="2025 Riksarkivet">
      <a:dk1>
        <a:srgbClr val="222222"/>
      </a:dk1>
      <a:lt1>
        <a:srgbClr val="FFFFFF"/>
      </a:lt1>
      <a:dk2>
        <a:srgbClr val="004460"/>
      </a:dk2>
      <a:lt2>
        <a:srgbClr val="FAFAFA"/>
      </a:lt2>
      <a:accent1>
        <a:srgbClr val="F2C948"/>
      </a:accent1>
      <a:accent2>
        <a:srgbClr val="FCF6E3"/>
      </a:accent2>
      <a:accent3>
        <a:srgbClr val="B44B6F"/>
      </a:accent3>
      <a:accent4>
        <a:srgbClr val="F7DFE6"/>
      </a:accent4>
      <a:accent5>
        <a:srgbClr val="C4D8B0"/>
      </a:accent5>
      <a:accent6>
        <a:srgbClr val="E5F1F8"/>
      </a:accent6>
      <a:hlink>
        <a:srgbClr val="0563C1"/>
      </a:hlink>
      <a:folHlink>
        <a:srgbClr val="954F72"/>
      </a:folHlink>
    </a:clrScheme>
    <a:fontScheme name="Anpassat 2">
      <a:majorFont>
        <a:latin typeface="Open Sans Medium"/>
        <a:ea typeface=""/>
        <a:cs typeface=""/>
      </a:majorFont>
      <a:minorFont>
        <a:latin typeface="Open Sans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_16-9_plommon.potx" id="{40AFF6DA-242C-470D-9A80-26E89999F44D}" vid="{25CE219D-8960-496F-8F40-6A6689B6806C}"/>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ppt_16-9_plommon</Template>
  <TotalTime>482</TotalTime>
  <Words>2104</Words>
  <Application>Microsoft Office PowerPoint</Application>
  <PresentationFormat>Bredbild</PresentationFormat>
  <Paragraphs>222</Paragraphs>
  <Slides>11</Slides>
  <Notes>11</Notes>
  <HiddenSlides>1</HiddenSlides>
  <MMClips>0</MMClips>
  <ScaleCrop>false</ScaleCrop>
  <HeadingPairs>
    <vt:vector size="6" baseType="variant">
      <vt:variant>
        <vt:lpstr>Använt teckensnitt</vt:lpstr>
      </vt:variant>
      <vt:variant>
        <vt:i4>5</vt:i4>
      </vt:variant>
      <vt:variant>
        <vt:lpstr>Tema</vt:lpstr>
      </vt:variant>
      <vt:variant>
        <vt:i4>1</vt:i4>
      </vt:variant>
      <vt:variant>
        <vt:lpstr>Bildrubriker</vt:lpstr>
      </vt:variant>
      <vt:variant>
        <vt:i4>11</vt:i4>
      </vt:variant>
    </vt:vector>
  </HeadingPairs>
  <TitlesOfParts>
    <vt:vector size="17" baseType="lpstr">
      <vt:lpstr>Aptos</vt:lpstr>
      <vt:lpstr>Arial</vt:lpstr>
      <vt:lpstr>Courier New</vt:lpstr>
      <vt:lpstr>Open Sans</vt:lpstr>
      <vt:lpstr>Open Sans Medium</vt:lpstr>
      <vt:lpstr>Office-tema</vt:lpstr>
      <vt:lpstr>RA-MCP – hur, vad och för vem</vt:lpstr>
      <vt:lpstr>Tre frågor på tio minuter</vt:lpstr>
      <vt:lpstr>Hur funkar RA-MCP?</vt:lpstr>
      <vt:lpstr>Vad finns i verktygslådan?</vt:lpstr>
      <vt:lpstr>Live-demo</vt:lpstr>
      <vt:lpstr>Var går gränserna?</vt:lpstr>
      <vt:lpstr>Vad den klarar – och inte</vt:lpstr>
      <vt:lpstr>För vem?</vt:lpstr>
      <vt:lpstr>Testa – och berätta vad du saknar!</vt:lpstr>
      <vt:lpstr>Bilaga: verktygen (1/2)</vt:lpstr>
      <vt:lpstr>Bilaga: verktygen (2/2)</vt:lpstr>
    </vt:vector>
  </TitlesOfParts>
  <Company>Riksarkivet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Sjöholm</dc:creator>
  <cp:lastModifiedBy>Julia Sjöholm</cp:lastModifiedBy>
  <cp:revision>7</cp:revision>
  <dcterms:created xsi:type="dcterms:W3CDTF">2026-10-06T11:59:06Z</dcterms:created>
  <dcterms:modified xsi:type="dcterms:W3CDTF">2026-10-09T07:11:58Z</dcterms:modified>
</cp:coreProperties>
</file>