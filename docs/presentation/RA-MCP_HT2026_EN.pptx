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sv-SE"/>
    </a:defPPr>
    <a:lvl1pPr marL="0" algn="l" defTabSz="914400" rtl="0" eaLnBrk="1" latinLnBrk="0" hangingPunct="1">
      <a:defRPr lang="sv-SE" sz="1800" kern="1200">
        <a:solidFill>
          <a:schemeClr val="tx1"/>
        </a:solidFill>
        <a:latin typeface="+mn-lt"/>
        <a:ea typeface="+mn-ea"/>
        <a:cs typeface="+mn-cs"/>
      </a:defRPr>
    </a:lvl1pPr>
    <a:lvl2pPr marL="457200" algn="l" defTabSz="914400" rtl="0" eaLnBrk="1" latinLnBrk="0" hangingPunct="1">
      <a:defRPr lang="sv-SE" sz="1800" kern="1200">
        <a:solidFill>
          <a:schemeClr val="tx1"/>
        </a:solidFill>
        <a:latin typeface="+mn-lt"/>
        <a:ea typeface="+mn-ea"/>
        <a:cs typeface="+mn-cs"/>
      </a:defRPr>
    </a:lvl2pPr>
    <a:lvl3pPr marL="914400" algn="l" defTabSz="914400" rtl="0" eaLnBrk="1" latinLnBrk="0" hangingPunct="1">
      <a:defRPr lang="sv-SE" sz="1800" kern="1200">
        <a:solidFill>
          <a:schemeClr val="tx1"/>
        </a:solidFill>
        <a:latin typeface="+mn-lt"/>
        <a:ea typeface="+mn-ea"/>
        <a:cs typeface="+mn-cs"/>
      </a:defRPr>
    </a:lvl3pPr>
    <a:lvl4pPr marL="1371600" algn="l" defTabSz="914400" rtl="0" eaLnBrk="1" latinLnBrk="0" hangingPunct="1">
      <a:defRPr lang="sv-SE" sz="1800" kern="1200">
        <a:solidFill>
          <a:schemeClr val="tx1"/>
        </a:solidFill>
        <a:latin typeface="+mn-lt"/>
        <a:ea typeface="+mn-ea"/>
        <a:cs typeface="+mn-cs"/>
      </a:defRPr>
    </a:lvl4pPr>
    <a:lvl5pPr marL="1828800" algn="l" defTabSz="914400" rtl="0" eaLnBrk="1" latinLnBrk="0" hangingPunct="1">
      <a:defRPr lang="sv-SE" sz="1800" kern="1200">
        <a:solidFill>
          <a:schemeClr val="tx1"/>
        </a:solidFill>
        <a:latin typeface="+mn-lt"/>
        <a:ea typeface="+mn-ea"/>
        <a:cs typeface="+mn-cs"/>
      </a:defRPr>
    </a:lvl5pPr>
    <a:lvl6pPr marL="2286000" algn="l" defTabSz="914400" rtl="0" eaLnBrk="1" latinLnBrk="0" hangingPunct="1">
      <a:defRPr lang="sv-SE" sz="1800" kern="1200">
        <a:solidFill>
          <a:schemeClr val="tx1"/>
        </a:solidFill>
        <a:latin typeface="+mn-lt"/>
        <a:ea typeface="+mn-ea"/>
        <a:cs typeface="+mn-cs"/>
      </a:defRPr>
    </a:lvl6pPr>
    <a:lvl7pPr marL="2743200" algn="l" defTabSz="914400" rtl="0" eaLnBrk="1" latinLnBrk="0" hangingPunct="1">
      <a:defRPr lang="sv-SE" sz="1800" kern="1200">
        <a:solidFill>
          <a:schemeClr val="tx1"/>
        </a:solidFill>
        <a:latin typeface="+mn-lt"/>
        <a:ea typeface="+mn-ea"/>
        <a:cs typeface="+mn-cs"/>
      </a:defRPr>
    </a:lvl7pPr>
    <a:lvl8pPr marL="3200400" algn="l" defTabSz="914400" rtl="0" eaLnBrk="1" latinLnBrk="0" hangingPunct="1">
      <a:defRPr lang="sv-SE" sz="1800" kern="1200">
        <a:solidFill>
          <a:schemeClr val="tx1"/>
        </a:solidFill>
        <a:latin typeface="+mn-lt"/>
        <a:ea typeface="+mn-ea"/>
        <a:cs typeface="+mn-cs"/>
      </a:defRPr>
    </a:lvl8pPr>
    <a:lvl9pPr marL="3657600" algn="l" defTabSz="914400" rtl="0" eaLnBrk="1" latinLnBrk="0" hangingPunct="1">
      <a:defRPr lang="sv-SE"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80885" autoAdjust="0"/>
  </p:normalViewPr>
  <p:slideViewPr>
    <p:cSldViewPr snapToGrid="0" showGuides="1">
      <p:cViewPr varScale="1">
        <p:scale>
          <a:sx n="89" d="100"/>
          <a:sy n="89" d="100"/>
        </p:scale>
        <p:origin x="1434"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sv-SE"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sv-SE" sz="1200"/>
            </a:lvl1pPr>
          </a:lstStyle>
          <a:p>
            <a:fld id="{F7091461-4A85-432F-B4B9-5D7E43B4C6E1}" type="datetimeFigureOut">
              <a:rPr lang="sv-SE" smtClean="0"/>
              <a:t>2026-10-15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sv-SE"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sv-SE" sz="1200"/>
            </a:lvl1pPr>
          </a:lstStyle>
          <a:p>
            <a:fld id="{13AFF709-3306-428A-9D05-F3F5385CE79E}" type="slidenum">
              <a:rPr lang="sv-SE" smtClean="0"/>
              <a:t>‹#›</a:t>
            </a:fld>
            <a:endParaRPr lang="sv-SE"/>
          </a:p>
        </p:txBody>
      </p:sp>
    </p:spTree>
    <p:extLst>
      <p:ext uri="{BB962C8B-B14F-4D97-AF65-F5344CB8AC3E}">
        <p14:creationId xmlns:p14="http://schemas.microsoft.com/office/powerpoint/2010/main" val="24622861"/>
      </p:ext>
    </p:extLst>
  </p:cSld>
  <p:clrMap bg1="lt1" tx1="dk1" bg2="lt2" tx2="dk2" accent1="accent1" accent2="accent2" accent3="accent3" accent4="accent4" accent5="accent5" accent6="accent6" hlink="hlink" folHlink="folHlink"/>
  <p:notesStyle>
    <a:lvl1pPr marL="0" algn="l" defTabSz="914400" rtl="0" eaLnBrk="1" latinLnBrk="0" hangingPunct="1">
      <a:defRPr lang="sv-SE" sz="1200" kern="1200">
        <a:solidFill>
          <a:schemeClr val="tx1"/>
        </a:solidFill>
        <a:latin typeface="+mn-lt"/>
        <a:ea typeface="+mn-ea"/>
        <a:cs typeface="+mn-cs"/>
      </a:defRPr>
    </a:lvl1pPr>
    <a:lvl2pPr marL="457200" algn="l" defTabSz="914400" rtl="0" eaLnBrk="1" latinLnBrk="0" hangingPunct="1">
      <a:defRPr lang="sv-SE" sz="1200" kern="1200">
        <a:solidFill>
          <a:schemeClr val="tx1"/>
        </a:solidFill>
        <a:latin typeface="+mn-lt"/>
        <a:ea typeface="+mn-ea"/>
        <a:cs typeface="+mn-cs"/>
      </a:defRPr>
    </a:lvl2pPr>
    <a:lvl3pPr marL="914400" algn="l" defTabSz="914400" rtl="0" eaLnBrk="1" latinLnBrk="0" hangingPunct="1">
      <a:defRPr lang="sv-SE" sz="1200" kern="1200">
        <a:solidFill>
          <a:schemeClr val="tx1"/>
        </a:solidFill>
        <a:latin typeface="+mn-lt"/>
        <a:ea typeface="+mn-ea"/>
        <a:cs typeface="+mn-cs"/>
      </a:defRPr>
    </a:lvl3pPr>
    <a:lvl4pPr marL="1371600" algn="l" defTabSz="914400" rtl="0" eaLnBrk="1" latinLnBrk="0" hangingPunct="1">
      <a:defRPr lang="sv-SE" sz="1200" kern="1200">
        <a:solidFill>
          <a:schemeClr val="tx1"/>
        </a:solidFill>
        <a:latin typeface="+mn-lt"/>
        <a:ea typeface="+mn-ea"/>
        <a:cs typeface="+mn-cs"/>
      </a:defRPr>
    </a:lvl4pPr>
    <a:lvl5pPr marL="1828800" algn="l" defTabSz="914400" rtl="0" eaLnBrk="1" latinLnBrk="0" hangingPunct="1">
      <a:defRPr lang="sv-SE" sz="1200" kern="1200">
        <a:solidFill>
          <a:schemeClr val="tx1"/>
        </a:solidFill>
        <a:latin typeface="+mn-lt"/>
        <a:ea typeface="+mn-ea"/>
        <a:cs typeface="+mn-cs"/>
      </a:defRPr>
    </a:lvl5pPr>
    <a:lvl6pPr marL="2286000" algn="l" defTabSz="914400" rtl="0" eaLnBrk="1" latinLnBrk="0" hangingPunct="1">
      <a:defRPr lang="sv-SE" sz="1200" kern="1200">
        <a:solidFill>
          <a:schemeClr val="tx1"/>
        </a:solidFill>
        <a:latin typeface="+mn-lt"/>
        <a:ea typeface="+mn-ea"/>
        <a:cs typeface="+mn-cs"/>
      </a:defRPr>
    </a:lvl6pPr>
    <a:lvl7pPr marL="2743200" algn="l" defTabSz="914400" rtl="0" eaLnBrk="1" latinLnBrk="0" hangingPunct="1">
      <a:defRPr lang="sv-SE" sz="1200" kern="1200">
        <a:solidFill>
          <a:schemeClr val="tx1"/>
        </a:solidFill>
        <a:latin typeface="+mn-lt"/>
        <a:ea typeface="+mn-ea"/>
        <a:cs typeface="+mn-cs"/>
      </a:defRPr>
    </a:lvl7pPr>
    <a:lvl8pPr marL="3200400" algn="l" defTabSz="914400" rtl="0" eaLnBrk="1" latinLnBrk="0" hangingPunct="1">
      <a:defRPr lang="sv-SE" sz="1200" kern="1200">
        <a:solidFill>
          <a:schemeClr val="tx1"/>
        </a:solidFill>
        <a:latin typeface="+mn-lt"/>
        <a:ea typeface="+mn-ea"/>
        <a:cs typeface="+mn-cs"/>
      </a:defRPr>
    </a:lvl8pPr>
    <a:lvl9pPr marL="3657600" algn="l" defTabSz="914400" rtl="0" eaLnBrk="1" latinLnBrk="0" hangingPunct="1">
      <a:defRPr lang="sv-SE"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Why does this matter? More and more people reach information through an AI assistant rather than a search interface – and that is happening whether or not archives prepare for it. We want to be where the questions are asked.</a:t>
            </a:r>
          </a:p>
          <a:p>
            <a:endParaRPr lang="en-GB"/>
          </a:p>
          <a:p>
            <a:r>
              <a:rPr lang="en-GB"/>
              <a:t>MCP is an open standard that lets an AI assistant use tools outside itself. RA-MCP turns our finding aids, 73 million images, transcribed handwriting and some thirty registers into such tools.</a:t>
            </a:r>
          </a:p>
          <a:p>
            <a:endParaRPr lang="en-GB"/>
          </a:p>
          <a:p>
            <a:r>
              <a:rPr lang="en-GB"/>
              <a:t>Follow the picture: you ask in whatever language you like. The assistant picks the tools and searches in Swedish, including historical spellings. The answer comes back in your language, with links to the originals. You don’t need to know which database holds the answer – or read Swedish.</a:t>
            </a:r>
          </a:p>
          <a:p>
            <a:endParaRPr lang="en-GB"/>
          </a:p>
          <a:p>
            <a:r>
              <a:rPr lang="en-GB"/>
              <a:t>And importantly for an archive: the data stays with us. The assistant can ask questions, but no copy leaves the archive. The same principle could work across several institutions. And because MCP is a standard, we are not tied to one vendor – Claude, ChatGPT and Mistral all work.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This is what sits behind RA-MCP. The core is three things: searching AI-transcribed handwriting, searching the catalogue, and opening the original image with the text on top. Around that are some thirty registers – births, deaths and marriages from the church records, the Swedish Biographical Lexicon, medieval charters, seamen’s houses, court records and more.</a:t>
            </a:r>
          </a:p>
          <a:p>
            <a:endParaRPr lang="en-GB"/>
          </a:p>
          <a:p>
            <a:r>
              <a:rPr lang="en-GB"/>
              <a:t>The dark card is skills. That is built-in guidance that teaches the AI how to search archives – old spellings, misread handwriting, proper citation. It is the difference between searching and searching well, and you don’t need to install anything extra.</a:t>
            </a:r>
          </a:p>
          <a:p>
            <a:endParaRPr lang="en-GB"/>
          </a:p>
          <a:p>
            <a:r>
              <a:rPr lang="en-GB"/>
              <a:t>The point: you don’t need to know which source holds the answer. The AI chooses.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Three users, three questions – all tested against this release. Ask them live, in English: that in itself shows the language point.</a:t>
            </a:r>
          </a:p>
          <a:p>
            <a:endParaRPr lang="en-GB" dirty="0"/>
          </a:p>
          <a:p>
            <a:r>
              <a:rPr lang="en-GB" dirty="0"/>
              <a:t>The genealogist asks broadly about an ancestor. Expected: a farmer at </a:t>
            </a:r>
            <a:r>
              <a:rPr lang="en-GB" dirty="0" err="1"/>
              <a:t>Horsaryd</a:t>
            </a:r>
            <a:r>
              <a:rPr lang="en-GB" dirty="0"/>
              <a:t> who died of cholera on 25 September 1834 – one of 38 in the parish that autumn. His birth and marriage are not in the register, so the next step is the household examination rolls. The point: the AI gives context and is honest about what is missing.</a:t>
            </a:r>
          </a:p>
          <a:p>
            <a:endParaRPr lang="en-GB" dirty="0"/>
          </a:p>
          <a:p>
            <a:r>
              <a:rPr lang="en-GB" dirty="0"/>
              <a:t>The researcher asks about the same epidemic in the handwritten records. Expected: the disease as a threat, as a cause of death, and prisoners working at Stockholm’s cholera cemeteries in 1835 – with a link to each page. The follow-up gives the AI’s own suggestions, not facts from the source – a good moment to talk about source criticism.</a:t>
            </a:r>
          </a:p>
          <a:p>
            <a:endParaRPr lang="en-GB" dirty="0"/>
          </a:p>
          <a:p>
            <a:r>
              <a:rPr lang="en-GB" dirty="0"/>
              <a:t>The archivist wants to know where Sámi material can be found. The AI searches using the historical Swedish terms in the sources, such as “</a:t>
            </a:r>
            <a:r>
              <a:rPr lang="en-GB" dirty="0" err="1"/>
              <a:t>lappmark</a:t>
            </a:r>
            <a:r>
              <a:rPr lang="en-GB" dirty="0"/>
              <a:t>” and “</a:t>
            </a:r>
            <a:r>
              <a:rPr lang="en-GB" dirty="0" err="1"/>
              <a:t>lappman</a:t>
            </a:r>
            <a:r>
              <a:rPr lang="en-GB" dirty="0"/>
              <a:t>” – not because they are the right terms today, but because that is how the material is described. Expected: the Lapland court records around 1700, the </a:t>
            </a:r>
            <a:r>
              <a:rPr lang="en-GB" dirty="0" err="1"/>
              <a:t>Svea</a:t>
            </a:r>
            <a:r>
              <a:rPr lang="en-GB" dirty="0"/>
              <a:t> Court of Appeal, mining administration records and county proclamations.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Connecting looks the same in every AI assistant that supports MCP – Claude, ChatGPT, Mistral and others. All you need is the address at the top. RA-MCP requires no login, the server is open, but you need an account with your AI assistant, often a paid plan.</a:t>
            </a:r>
          </a:p>
          <a:p>
            <a:endParaRPr lang="en-GB"/>
          </a:p>
          <a:p>
            <a:r>
              <a:rPr lang="en-GB"/>
              <a:t>Three steps: go to the settings and look for Connectors or Integrations – the name varies a little between services. Choose to add a custom connector, call it RA-MCP and paste the address. Then turn it on in the chat. It takes half a minute.</a:t>
            </a:r>
          </a:p>
          <a:p>
            <a:endParaRPr lang="en-GB"/>
          </a:p>
          <a:p>
            <a:r>
              <a:rPr lang="en-GB"/>
              <a:t>Try a simple question, for example “Who was Marie Louise Gagner?”. If you get an answer with a link to the Swedish Biographical Lexicon, you are connected.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RA-MCP is a beta, from September to the end of the year. It is limited, it has bugs, and assistants can misread and misquote. It also runs on infrastructure that is not our own – which is why it is a test and not a service. The point is to test early: it is the cheapest way to find out what fails and the fastest way to learn what is worth building.</a:t>
            </a:r>
          </a:p>
          <a:p>
            <a:endParaRPr lang="en-GB"/>
          </a:p>
          <a:p>
            <a:r>
              <a:rPr lang="en-GB"/>
              <a:t>Be honest about the limits, it builds trust. On-demand transcription and the Label Studio export are switched off, and not all sources are connected. Most important: an empty answer doesn’t mean nothing exists – teach the audience to ask “where did you search?” and to check against the original.</a:t>
            </a:r>
          </a:p>
          <a:p>
            <a:endParaRPr lang="en-GB"/>
          </a:p>
          <a:p>
            <a:r>
              <a:rPr lang="en-GB"/>
              <a:t>Bugs and requests go to AI@riksarkivet.se. If you have tested it, please fill in the survey – it shapes what we build next. The documentation is on GitHub.</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tartsida plommon">
    <p:bg>
      <p:bgPr>
        <a:solidFill>
          <a:schemeClr val="accent3"/>
        </a:solidFill>
        <a:effectLst/>
      </p:bgPr>
    </p:bg>
    <p:spTree>
      <p:nvGrpSpPr>
        <p:cNvPr id="1" name=""/>
        <p:cNvGrpSpPr/>
        <p:nvPr/>
      </p:nvGrpSpPr>
      <p:grpSpPr>
        <a:xfrm>
          <a:off x="0" y="0"/>
          <a:ext cx="0" cy="0"/>
          <a:chOff x="0" y="0"/>
          <a:chExt cx="0" cy="0"/>
        </a:xfrm>
      </p:grpSpPr>
      <p:sp>
        <p:nvSpPr>
          <p:cNvPr id="2" name="Rubrik 1"/>
          <p:cNvSpPr>
            <a:spLocks noGrp="1"/>
          </p:cNvSpPr>
          <p:nvPr>
            <p:ph type="ctrTitle" hasCustomPrompt="1"/>
          </p:nvPr>
        </p:nvSpPr>
        <p:spPr>
          <a:xfrm>
            <a:off x="710453" y="1581150"/>
            <a:ext cx="9144000" cy="1727387"/>
          </a:xfrm>
        </p:spPr>
        <p:txBody>
          <a:bodyPr anchor="b" anchorCtr="0"/>
          <a:lstStyle>
            <a:lvl1pPr algn="l">
              <a:defRPr lang="sv-SE" sz="4800">
                <a:solidFill>
                  <a:schemeClr val="bg2"/>
                </a:solidFill>
              </a:defRPr>
            </a:lvl1pPr>
          </a:lstStyle>
          <a:p>
            <a:r>
              <a:rPr lang="sv-SE" dirty="0"/>
              <a:t>Titel på presentationen</a:t>
            </a:r>
            <a:br>
              <a:rPr lang="sv-SE" dirty="0"/>
            </a:br>
            <a:r>
              <a:rPr lang="sv-SE" dirty="0"/>
              <a:t>eller på kapitlet</a:t>
            </a:r>
          </a:p>
        </p:txBody>
      </p:sp>
      <p:sp>
        <p:nvSpPr>
          <p:cNvPr id="3" name="Underrubrik 2"/>
          <p:cNvSpPr>
            <a:spLocks noGrp="1"/>
          </p:cNvSpPr>
          <p:nvPr>
            <p:ph type="subTitle" idx="1" hasCustomPrompt="1"/>
          </p:nvPr>
        </p:nvSpPr>
        <p:spPr>
          <a:xfrm>
            <a:off x="710453" y="3429000"/>
            <a:ext cx="9144000" cy="1655762"/>
          </a:xfrm>
        </p:spPr>
        <p:txBody>
          <a:bodyPr>
            <a:noAutofit/>
          </a:bodyPr>
          <a:lstStyle>
            <a:lvl1pPr marL="0" indent="0" algn="l">
              <a:buNone/>
              <a:defRPr lang="sv-SE" sz="2400">
                <a:solidFill>
                  <a:schemeClr val="bg2"/>
                </a:solidFill>
              </a:defRPr>
            </a:lvl1pPr>
            <a:lvl2pPr marL="457200" indent="0" algn="ctr">
              <a:buNone/>
              <a:defRPr lang="sv-SE" sz="2000"/>
            </a:lvl2pPr>
            <a:lvl3pPr marL="914400" indent="0" algn="ctr">
              <a:buNone/>
              <a:defRPr lang="sv-SE" sz="1800"/>
            </a:lvl3pPr>
            <a:lvl4pPr marL="1371600" indent="0" algn="ctr">
              <a:buNone/>
              <a:defRPr lang="sv-SE" sz="1600"/>
            </a:lvl4pPr>
            <a:lvl5pPr marL="1828800" indent="0" algn="ctr">
              <a:buNone/>
              <a:defRPr lang="sv-SE" sz="1600"/>
            </a:lvl5pPr>
            <a:lvl6pPr marL="2286000" indent="0" algn="ctr">
              <a:buNone/>
              <a:defRPr lang="sv-SE" sz="1600"/>
            </a:lvl6pPr>
            <a:lvl7pPr marL="2743200" indent="0" algn="ctr">
              <a:buNone/>
              <a:defRPr lang="sv-SE" sz="1600"/>
            </a:lvl7pPr>
            <a:lvl8pPr marL="3200400" indent="0" algn="ctr">
              <a:buNone/>
              <a:defRPr lang="sv-SE" sz="1600"/>
            </a:lvl8pPr>
            <a:lvl9pPr marL="3657600" indent="0" algn="ctr">
              <a:buNone/>
              <a:defRPr lang="sv-SE" sz="1600"/>
            </a:lvl9pPr>
          </a:lstStyle>
          <a:p>
            <a:r>
              <a:rPr lang="sv-SE" dirty="0"/>
              <a:t>Namn, organisation, datum</a:t>
            </a:r>
          </a:p>
        </p:txBody>
      </p:sp>
    </p:spTree>
    <p:extLst>
      <p:ext uri="{BB962C8B-B14F-4D97-AF65-F5344CB8AC3E}">
        <p14:creationId xmlns:p14="http://schemas.microsoft.com/office/powerpoint/2010/main" val="923381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Startsida ljusrosa">
    <p:bg>
      <p:bgPr>
        <a:solidFill>
          <a:schemeClr val="accent4"/>
        </a:solidFill>
        <a:effectLst/>
      </p:bgPr>
    </p:bg>
    <p:spTree>
      <p:nvGrpSpPr>
        <p:cNvPr id="1" name=""/>
        <p:cNvGrpSpPr/>
        <p:nvPr/>
      </p:nvGrpSpPr>
      <p:grpSpPr>
        <a:xfrm>
          <a:off x="0" y="0"/>
          <a:ext cx="0" cy="0"/>
          <a:chOff x="0" y="0"/>
          <a:chExt cx="0" cy="0"/>
        </a:xfrm>
      </p:grpSpPr>
      <p:sp>
        <p:nvSpPr>
          <p:cNvPr id="2" name="Rubrik 1"/>
          <p:cNvSpPr>
            <a:spLocks noGrp="1"/>
          </p:cNvSpPr>
          <p:nvPr>
            <p:ph type="ctrTitle" hasCustomPrompt="1"/>
          </p:nvPr>
        </p:nvSpPr>
        <p:spPr>
          <a:xfrm>
            <a:off x="710453" y="1581150"/>
            <a:ext cx="9144000" cy="1727387"/>
          </a:xfrm>
        </p:spPr>
        <p:txBody>
          <a:bodyPr anchor="b" anchorCtr="0"/>
          <a:lstStyle>
            <a:lvl1pPr algn="l">
              <a:defRPr lang="sv-SE" sz="4800">
                <a:solidFill>
                  <a:schemeClr val="tx1"/>
                </a:solidFill>
              </a:defRPr>
            </a:lvl1pPr>
          </a:lstStyle>
          <a:p>
            <a:r>
              <a:rPr lang="sv-SE" dirty="0"/>
              <a:t>Titel på presentationen</a:t>
            </a:r>
            <a:br>
              <a:rPr lang="sv-SE" dirty="0"/>
            </a:br>
            <a:r>
              <a:rPr lang="sv-SE" dirty="0"/>
              <a:t>eller på kapitlet</a:t>
            </a:r>
          </a:p>
        </p:txBody>
      </p:sp>
      <p:sp>
        <p:nvSpPr>
          <p:cNvPr id="3" name="Underrubrik 2"/>
          <p:cNvSpPr>
            <a:spLocks noGrp="1"/>
          </p:cNvSpPr>
          <p:nvPr>
            <p:ph type="subTitle" idx="1" hasCustomPrompt="1"/>
          </p:nvPr>
        </p:nvSpPr>
        <p:spPr>
          <a:xfrm>
            <a:off x="710453" y="3429000"/>
            <a:ext cx="9144000" cy="1655762"/>
          </a:xfrm>
        </p:spPr>
        <p:txBody>
          <a:bodyPr>
            <a:noAutofit/>
          </a:bodyPr>
          <a:lstStyle>
            <a:lvl1pPr marL="0" indent="0" algn="l">
              <a:buNone/>
              <a:defRPr lang="sv-SE" sz="2400">
                <a:solidFill>
                  <a:schemeClr val="tx1"/>
                </a:solidFill>
              </a:defRPr>
            </a:lvl1pPr>
            <a:lvl2pPr marL="457200" indent="0" algn="ctr">
              <a:buNone/>
              <a:defRPr lang="sv-SE" sz="2000"/>
            </a:lvl2pPr>
            <a:lvl3pPr marL="914400" indent="0" algn="ctr">
              <a:buNone/>
              <a:defRPr lang="sv-SE" sz="1800"/>
            </a:lvl3pPr>
            <a:lvl4pPr marL="1371600" indent="0" algn="ctr">
              <a:buNone/>
              <a:defRPr lang="sv-SE" sz="1600"/>
            </a:lvl4pPr>
            <a:lvl5pPr marL="1828800" indent="0" algn="ctr">
              <a:buNone/>
              <a:defRPr lang="sv-SE" sz="1600"/>
            </a:lvl5pPr>
            <a:lvl6pPr marL="2286000" indent="0" algn="ctr">
              <a:buNone/>
              <a:defRPr lang="sv-SE" sz="1600"/>
            </a:lvl6pPr>
            <a:lvl7pPr marL="2743200" indent="0" algn="ctr">
              <a:buNone/>
              <a:defRPr lang="sv-SE" sz="1600"/>
            </a:lvl7pPr>
            <a:lvl8pPr marL="3200400" indent="0" algn="ctr">
              <a:buNone/>
              <a:defRPr lang="sv-SE" sz="1600"/>
            </a:lvl8pPr>
            <a:lvl9pPr marL="3657600" indent="0" algn="ctr">
              <a:buNone/>
              <a:defRPr lang="sv-SE" sz="1600"/>
            </a:lvl9pPr>
          </a:lstStyle>
          <a:p>
            <a:r>
              <a:rPr lang="sv-SE" dirty="0"/>
              <a:t>Namn, organisation, datum</a:t>
            </a:r>
          </a:p>
        </p:txBody>
      </p:sp>
    </p:spTree>
    <p:extLst>
      <p:ext uri="{BB962C8B-B14F-4D97-AF65-F5344CB8AC3E}">
        <p14:creationId xmlns:p14="http://schemas.microsoft.com/office/powerpoint/2010/main" val="3652828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ubrik och innehåll">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a:lstStyle>
            <a:lvl1pPr>
              <a:defRPr lang="sv-SE"/>
            </a:lvl1pPr>
          </a:lstStyle>
          <a:p>
            <a:r>
              <a:rPr lang="sv-SE" dirty="0"/>
              <a:t>Klicka för att lägga till rubrik</a:t>
            </a:r>
          </a:p>
        </p:txBody>
      </p:sp>
      <p:sp>
        <p:nvSpPr>
          <p:cNvPr id="7" name="Platshållare för innehåll 6"/>
          <p:cNvSpPr>
            <a:spLocks noGrp="1"/>
          </p:cNvSpPr>
          <p:nvPr>
            <p:ph sz="quarter" idx="10" hasCustomPrompt="1"/>
          </p:nvPr>
        </p:nvSpPr>
        <p:spPr>
          <a:xfrm>
            <a:off x="347384" y="1228726"/>
            <a:ext cx="11497232" cy="4486274"/>
          </a:xfrm>
        </p:spPr>
        <p:txBody>
          <a:bodyPr/>
          <a:lstStyle>
            <a:lvl1pPr>
              <a:defRPr lang="sv-SE"/>
            </a:lvl1pPr>
          </a:lstStyle>
          <a:p>
            <a:pPr lvl="0"/>
            <a:r>
              <a:rPr lang="sv-SE" dirty="0"/>
              <a:t>Platshållare för innehåll</a:t>
            </a:r>
          </a:p>
        </p:txBody>
      </p:sp>
    </p:spTree>
    <p:extLst>
      <p:ext uri="{BB962C8B-B14F-4D97-AF65-F5344CB8AC3E}">
        <p14:creationId xmlns:p14="http://schemas.microsoft.com/office/powerpoint/2010/main" val="3912841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ast rubrik">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a:lstStyle>
            <a:lvl1pPr>
              <a:defRPr lang="sv-SE"/>
            </a:lvl1pPr>
          </a:lstStyle>
          <a:p>
            <a:r>
              <a:rPr lang="sv-SE" dirty="0"/>
              <a:t>Klicka för att lägga till rubrik</a:t>
            </a:r>
          </a:p>
        </p:txBody>
      </p:sp>
    </p:spTree>
    <p:extLst>
      <p:ext uri="{BB962C8B-B14F-4D97-AF65-F5344CB8AC3E}">
        <p14:creationId xmlns:p14="http://schemas.microsoft.com/office/powerpoint/2010/main" val="2920729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 med sidfot">
    <p:spTree>
      <p:nvGrpSpPr>
        <p:cNvPr id="1" name=""/>
        <p:cNvGrpSpPr/>
        <p:nvPr/>
      </p:nvGrpSpPr>
      <p:grpSpPr>
        <a:xfrm>
          <a:off x="0" y="0"/>
          <a:ext cx="0" cy="0"/>
          <a:chOff x="0" y="0"/>
          <a:chExt cx="0" cy="0"/>
        </a:xfrm>
      </p:grpSpPr>
      <p:sp>
        <p:nvSpPr>
          <p:cNvPr id="4" name="Platshållare för bild 3"/>
          <p:cNvSpPr>
            <a:spLocks noGrp="1" noChangeAspect="1"/>
          </p:cNvSpPr>
          <p:nvPr>
            <p:ph type="pic" sz="quarter" idx="10" hasCustomPrompt="1"/>
          </p:nvPr>
        </p:nvSpPr>
        <p:spPr>
          <a:xfrm>
            <a:off x="0" y="0"/>
            <a:ext cx="12192000" cy="6056313"/>
          </a:xfrm>
        </p:spPr>
        <p:txBody>
          <a:bodyPr anchor="ctr" anchorCtr="0"/>
          <a:lstStyle>
            <a:lvl1pPr marL="0" indent="0" algn="ctr">
              <a:buNone/>
              <a:defRPr lang="sv-SE"/>
            </a:lvl1pPr>
          </a:lstStyle>
          <a:p>
            <a:r>
              <a:rPr lang="sv-SE" dirty="0"/>
              <a:t>Infoga bild här</a:t>
            </a:r>
          </a:p>
        </p:txBody>
      </p:sp>
    </p:spTree>
    <p:extLst>
      <p:ext uri="{BB962C8B-B14F-4D97-AF65-F5344CB8AC3E}">
        <p14:creationId xmlns:p14="http://schemas.microsoft.com/office/powerpoint/2010/main" val="5506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ild – utfallande">
    <p:spTree>
      <p:nvGrpSpPr>
        <p:cNvPr id="1" name=""/>
        <p:cNvGrpSpPr/>
        <p:nvPr/>
      </p:nvGrpSpPr>
      <p:grpSpPr>
        <a:xfrm>
          <a:off x="0" y="0"/>
          <a:ext cx="0" cy="0"/>
          <a:chOff x="0" y="0"/>
          <a:chExt cx="0" cy="0"/>
        </a:xfrm>
      </p:grpSpPr>
      <p:sp>
        <p:nvSpPr>
          <p:cNvPr id="4" name="Platshållare för bild 3"/>
          <p:cNvSpPr>
            <a:spLocks noGrp="1" noChangeAspect="1"/>
          </p:cNvSpPr>
          <p:nvPr>
            <p:ph type="pic" sz="quarter" idx="10" hasCustomPrompt="1"/>
          </p:nvPr>
        </p:nvSpPr>
        <p:spPr>
          <a:xfrm>
            <a:off x="-1" y="0"/>
            <a:ext cx="12192002" cy="6858000"/>
          </a:xfrm>
        </p:spPr>
        <p:txBody>
          <a:bodyPr anchor="ctr" anchorCtr="0"/>
          <a:lstStyle>
            <a:lvl1pPr marL="0" indent="0" algn="ctr">
              <a:buNone/>
              <a:defRPr lang="sv-SE"/>
            </a:lvl1pPr>
          </a:lstStyle>
          <a:p>
            <a:r>
              <a:rPr lang="sv-SE" dirty="0"/>
              <a:t>Infoga bild här</a:t>
            </a:r>
          </a:p>
        </p:txBody>
      </p:sp>
    </p:spTree>
    <p:extLst>
      <p:ext uri="{BB962C8B-B14F-4D97-AF65-F5344CB8AC3E}">
        <p14:creationId xmlns:p14="http://schemas.microsoft.com/office/powerpoint/2010/main" val="206642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ubrik och innehåll i tvåspalt">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a:lstStyle>
            <a:lvl1pPr>
              <a:defRPr lang="sv-SE"/>
            </a:lvl1pPr>
          </a:lstStyle>
          <a:p>
            <a:r>
              <a:rPr lang="sv-SE" dirty="0"/>
              <a:t>Klicka för att lägga till rubrik</a:t>
            </a:r>
          </a:p>
        </p:txBody>
      </p:sp>
      <p:sp>
        <p:nvSpPr>
          <p:cNvPr id="5" name="Platshållare för innehåll 2"/>
          <p:cNvSpPr>
            <a:spLocks noGrp="1"/>
          </p:cNvSpPr>
          <p:nvPr>
            <p:ph sz="half" idx="1" hasCustomPrompt="1"/>
          </p:nvPr>
        </p:nvSpPr>
        <p:spPr>
          <a:xfrm>
            <a:off x="347384" y="1216800"/>
            <a:ext cx="5580000" cy="4489200"/>
          </a:xfrm>
        </p:spPr>
        <p:txBody>
          <a:bodyPr/>
          <a:lstStyle>
            <a:lvl1pPr>
              <a:defRPr lang="sv-SE"/>
            </a:lvl1pPr>
          </a:lstStyle>
          <a:p>
            <a:pPr lvl="0"/>
            <a:r>
              <a:rPr lang="sv-SE" dirty="0"/>
              <a:t>Platshållare för innehåll</a:t>
            </a:r>
          </a:p>
        </p:txBody>
      </p:sp>
      <p:sp>
        <p:nvSpPr>
          <p:cNvPr id="6" name="Platshållare för innehåll 2"/>
          <p:cNvSpPr>
            <a:spLocks noGrp="1"/>
          </p:cNvSpPr>
          <p:nvPr>
            <p:ph sz="half" idx="10" hasCustomPrompt="1"/>
          </p:nvPr>
        </p:nvSpPr>
        <p:spPr>
          <a:xfrm>
            <a:off x="6264616" y="1226937"/>
            <a:ext cx="5580000" cy="4489200"/>
          </a:xfrm>
        </p:spPr>
        <p:txBody>
          <a:bodyPr/>
          <a:lstStyle>
            <a:lvl1pPr>
              <a:defRPr lang="sv-SE"/>
            </a:lvl1pPr>
          </a:lstStyle>
          <a:p>
            <a:pPr lvl="0"/>
            <a:r>
              <a:rPr lang="sv-SE" dirty="0"/>
              <a:t>Platshållare för innehåll</a:t>
            </a:r>
          </a:p>
        </p:txBody>
      </p:sp>
    </p:spTree>
    <p:extLst>
      <p:ext uri="{BB962C8B-B14F-4D97-AF65-F5344CB8AC3E}">
        <p14:creationId xmlns:p14="http://schemas.microsoft.com/office/powerpoint/2010/main" val="475533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347384" y="343600"/>
            <a:ext cx="11497232" cy="530460"/>
          </a:xfrm>
          <a:prstGeom prst="rect">
            <a:avLst/>
          </a:prstGeom>
        </p:spPr>
        <p:txBody>
          <a:bodyPr vert="horz" lIns="91440" tIns="45720" rIns="91440" bIns="45720" rtlCol="0" anchor="t" anchorCtr="0">
            <a:noAutofit/>
          </a:bodyPr>
          <a:lstStyle/>
          <a:p>
            <a:r>
              <a:rPr lang="sv-SE" dirty="0"/>
              <a:t>Klicka för att lägga till rubrik</a:t>
            </a:r>
          </a:p>
        </p:txBody>
      </p:sp>
      <p:sp>
        <p:nvSpPr>
          <p:cNvPr id="3" name="Platshållare för text 2"/>
          <p:cNvSpPr>
            <a:spLocks noGrp="1"/>
          </p:cNvSpPr>
          <p:nvPr>
            <p:ph type="body" idx="1"/>
          </p:nvPr>
        </p:nvSpPr>
        <p:spPr>
          <a:xfrm>
            <a:off x="347383" y="1225086"/>
            <a:ext cx="11497233" cy="4488512"/>
          </a:xfrm>
          <a:prstGeom prst="rect">
            <a:avLst/>
          </a:prstGeom>
        </p:spPr>
        <p:txBody>
          <a:bodyPr vert="horz" lIns="91440" tIns="45720" rIns="91440" bIns="45720" rtlCol="0">
            <a:noAutofit/>
          </a:bodyPr>
          <a:lstStyle/>
          <a:p>
            <a:pPr lvl="0"/>
            <a:r>
              <a:rPr lang="sv-SE" dirty="0"/>
              <a:t>Skriv text här</a:t>
            </a:r>
          </a:p>
        </p:txBody>
      </p:sp>
      <p:sp>
        <p:nvSpPr>
          <p:cNvPr id="7" name="Rektangel 6"/>
          <p:cNvSpPr>
            <a:spLocks noChangeAspect="1"/>
          </p:cNvSpPr>
          <p:nvPr userDrawn="1"/>
        </p:nvSpPr>
        <p:spPr>
          <a:xfrm>
            <a:off x="1" y="6078374"/>
            <a:ext cx="12193200" cy="79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8" name="Bildobjekt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0078570" y="6213966"/>
            <a:ext cx="1766047" cy="494691"/>
          </a:xfrm>
          <a:prstGeom prst="rect">
            <a:avLst/>
          </a:prstGeom>
        </p:spPr>
      </p:pic>
    </p:spTree>
    <p:extLst>
      <p:ext uri="{BB962C8B-B14F-4D97-AF65-F5344CB8AC3E}">
        <p14:creationId xmlns:p14="http://schemas.microsoft.com/office/powerpoint/2010/main" val="2157944417"/>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0" r:id="rId3"/>
    <p:sldLayoutId id="2147483656" r:id="rId4"/>
    <p:sldLayoutId id="2147483657" r:id="rId5"/>
    <p:sldLayoutId id="2147483658" r:id="rId6"/>
    <p:sldLayoutId id="2147483652" r:id="rId7"/>
  </p:sldLayoutIdLst>
  <p:txStyles>
    <p:titleStyle>
      <a:lvl1pPr algn="l" defTabSz="914400" rtl="0" eaLnBrk="1" latinLnBrk="0" hangingPunct="1">
        <a:lnSpc>
          <a:spcPct val="90000"/>
        </a:lnSpc>
        <a:spcBef>
          <a:spcPct val="0"/>
        </a:spcBef>
        <a:buNone/>
        <a:defRPr lang="sv-SE" sz="4400" kern="1200">
          <a:solidFill>
            <a:schemeClr val="tx1"/>
          </a:solidFill>
          <a:latin typeface="Open Sans" pitchFamily="2" charset="0"/>
          <a:ea typeface="Open Sans" pitchFamily="2" charset="0"/>
          <a:cs typeface="Open Sans" pitchFamily="2"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lang="sv-SE" sz="2400" kern="1200">
          <a:solidFill>
            <a:schemeClr val="tx1"/>
          </a:solidFill>
          <a:latin typeface="Open Sans" pitchFamily="2" charset="0"/>
          <a:ea typeface="Open Sans" pitchFamily="2" charset="0"/>
          <a:cs typeface="Open Sans" pitchFamily="2" charset="0"/>
        </a:defRPr>
      </a:lvl1pPr>
      <a:lvl2pPr marL="457200" indent="0" algn="l" defTabSz="914400" rtl="0" eaLnBrk="1" latinLnBrk="0" hangingPunct="1">
        <a:lnSpc>
          <a:spcPct val="90000"/>
        </a:lnSpc>
        <a:spcBef>
          <a:spcPts val="500"/>
        </a:spcBef>
        <a:buFont typeface="Arial" panose="020B0604020202020204" pitchFamily="34" charset="0"/>
        <a:buNone/>
        <a:defRPr lang="sv-SE" sz="2000" kern="1200">
          <a:solidFill>
            <a:schemeClr val="tx1"/>
          </a:solidFill>
          <a:latin typeface="Open Sans" pitchFamily="2" charset="0"/>
          <a:ea typeface="Open Sans" pitchFamily="2" charset="0"/>
          <a:cs typeface="Open Sans" pitchFamily="2" charset="0"/>
        </a:defRPr>
      </a:lvl2pPr>
      <a:lvl3pPr marL="914400" indent="0" algn="l" defTabSz="914400" rtl="0" eaLnBrk="1" latinLnBrk="0" hangingPunct="1">
        <a:lnSpc>
          <a:spcPct val="90000"/>
        </a:lnSpc>
        <a:spcBef>
          <a:spcPts val="500"/>
        </a:spcBef>
        <a:buFont typeface="Arial" panose="020B0604020202020204" pitchFamily="34" charset="0"/>
        <a:buNone/>
        <a:defRPr lang="sv-SE" sz="1800" kern="1200">
          <a:solidFill>
            <a:schemeClr val="tx1"/>
          </a:solidFill>
          <a:latin typeface="Open Sans" pitchFamily="2" charset="0"/>
          <a:ea typeface="Open Sans" pitchFamily="2" charset="0"/>
          <a:cs typeface="Open Sans" pitchFamily="2" charset="0"/>
        </a:defRPr>
      </a:lvl3pPr>
      <a:lvl4pPr marL="1371600" indent="0" algn="l" defTabSz="914400" rtl="0" eaLnBrk="1" latinLnBrk="0" hangingPunct="1">
        <a:lnSpc>
          <a:spcPct val="90000"/>
        </a:lnSpc>
        <a:spcBef>
          <a:spcPts val="500"/>
        </a:spcBef>
        <a:buFont typeface="Arial" panose="020B0604020202020204" pitchFamily="34" charset="0"/>
        <a:buNone/>
        <a:defRPr lang="sv-SE" sz="1600" kern="1200">
          <a:solidFill>
            <a:schemeClr val="tx1"/>
          </a:solidFill>
          <a:latin typeface="Open Sans" pitchFamily="2" charset="0"/>
          <a:ea typeface="Open Sans" pitchFamily="2" charset="0"/>
          <a:cs typeface="Open Sans" pitchFamily="2" charset="0"/>
        </a:defRPr>
      </a:lvl4pPr>
      <a:lvl5pPr marL="1828800" indent="0" algn="l" defTabSz="914400" rtl="0" eaLnBrk="1" latinLnBrk="0" hangingPunct="1">
        <a:lnSpc>
          <a:spcPct val="90000"/>
        </a:lnSpc>
        <a:spcBef>
          <a:spcPts val="500"/>
        </a:spcBef>
        <a:buFont typeface="Arial" panose="020B0604020202020204" pitchFamily="34" charset="0"/>
        <a:buNone/>
        <a:defRPr lang="sv-SE" sz="14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9pPr>
    </p:bodyStyle>
    <p:otherStyle>
      <a:defPPr>
        <a:defRPr lang="sv-SE"/>
      </a:defPPr>
      <a:lvl1pPr marL="0" algn="l" defTabSz="914400" rtl="0" eaLnBrk="1" latinLnBrk="0" hangingPunct="1">
        <a:defRPr lang="sv-SE" sz="1800" kern="1200">
          <a:solidFill>
            <a:schemeClr val="tx1"/>
          </a:solidFill>
          <a:latin typeface="+mn-lt"/>
          <a:ea typeface="+mn-ea"/>
          <a:cs typeface="+mn-cs"/>
        </a:defRPr>
      </a:lvl1pPr>
      <a:lvl2pPr marL="457200" algn="l" defTabSz="914400" rtl="0" eaLnBrk="1" latinLnBrk="0" hangingPunct="1">
        <a:defRPr lang="sv-SE" sz="1800" kern="1200">
          <a:solidFill>
            <a:schemeClr val="tx1"/>
          </a:solidFill>
          <a:latin typeface="+mn-lt"/>
          <a:ea typeface="+mn-ea"/>
          <a:cs typeface="+mn-cs"/>
        </a:defRPr>
      </a:lvl2pPr>
      <a:lvl3pPr marL="914400" algn="l" defTabSz="914400" rtl="0" eaLnBrk="1" latinLnBrk="0" hangingPunct="1">
        <a:defRPr lang="sv-SE" sz="1800" kern="1200">
          <a:solidFill>
            <a:schemeClr val="tx1"/>
          </a:solidFill>
          <a:latin typeface="+mn-lt"/>
          <a:ea typeface="+mn-ea"/>
          <a:cs typeface="+mn-cs"/>
        </a:defRPr>
      </a:lvl3pPr>
      <a:lvl4pPr marL="1371600" algn="l" defTabSz="914400" rtl="0" eaLnBrk="1" latinLnBrk="0" hangingPunct="1">
        <a:defRPr lang="sv-SE" sz="1800" kern="1200">
          <a:solidFill>
            <a:schemeClr val="tx1"/>
          </a:solidFill>
          <a:latin typeface="+mn-lt"/>
          <a:ea typeface="+mn-ea"/>
          <a:cs typeface="+mn-cs"/>
        </a:defRPr>
      </a:lvl4pPr>
      <a:lvl5pPr marL="1828800" algn="l" defTabSz="914400" rtl="0" eaLnBrk="1" latinLnBrk="0" hangingPunct="1">
        <a:defRPr lang="sv-SE" sz="1800" kern="1200">
          <a:solidFill>
            <a:schemeClr val="tx1"/>
          </a:solidFill>
          <a:latin typeface="+mn-lt"/>
          <a:ea typeface="+mn-ea"/>
          <a:cs typeface="+mn-cs"/>
        </a:defRPr>
      </a:lvl5pPr>
      <a:lvl6pPr marL="2286000" algn="l" defTabSz="914400" rtl="0" eaLnBrk="1" latinLnBrk="0" hangingPunct="1">
        <a:defRPr lang="sv-SE" sz="1800" kern="1200">
          <a:solidFill>
            <a:schemeClr val="tx1"/>
          </a:solidFill>
          <a:latin typeface="+mn-lt"/>
          <a:ea typeface="+mn-ea"/>
          <a:cs typeface="+mn-cs"/>
        </a:defRPr>
      </a:lvl6pPr>
      <a:lvl7pPr marL="2743200" algn="l" defTabSz="914400" rtl="0" eaLnBrk="1" latinLnBrk="0" hangingPunct="1">
        <a:defRPr lang="sv-SE" sz="1800" kern="1200">
          <a:solidFill>
            <a:schemeClr val="tx1"/>
          </a:solidFill>
          <a:latin typeface="+mn-lt"/>
          <a:ea typeface="+mn-ea"/>
          <a:cs typeface="+mn-cs"/>
        </a:defRPr>
      </a:lvl7pPr>
      <a:lvl8pPr marL="3200400" algn="l" defTabSz="914400" rtl="0" eaLnBrk="1" latinLnBrk="0" hangingPunct="1">
        <a:defRPr lang="sv-SE" sz="1800" kern="1200">
          <a:solidFill>
            <a:schemeClr val="tx1"/>
          </a:solidFill>
          <a:latin typeface="+mn-lt"/>
          <a:ea typeface="+mn-ea"/>
          <a:cs typeface="+mn-cs"/>
        </a:defRPr>
      </a:lvl8pPr>
      <a:lvl9pPr marL="3657600" algn="l" defTabSz="914400" rtl="0" eaLnBrk="1" latinLnBrk="0" hangingPunct="1">
        <a:defRPr lang="sv-SE"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hyperlink" Target="https://ai-riksarkivet.github.io/ra-mcp/" TargetMode="External"/><Relationship Id="rId3" Type="http://schemas.openxmlformats.org/officeDocument/2006/relationships/image" Target="../media/image18.png"/><Relationship Id="rId7" Type="http://schemas.openxmlformats.org/officeDocument/2006/relationships/hyperlink" Target="https://members.paloma.se/Surveys/Pass/ViewSurvey.aspx?survey=57dab472-66f9-425f-883b-3ca43a947dbd"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hyperlink" Target="mailto:AI@riksarkivet.se" TargetMode="External"/><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What is RA-MCP?</a:t>
            </a:r>
          </a:p>
        </p:txBody>
      </p:sp>
      <p:sp>
        <p:nvSpPr>
          <p:cNvPr id="3" name="TextBox 2"/>
          <p:cNvSpPr txBox="1"/>
          <p:nvPr/>
        </p:nvSpPr>
        <p:spPr>
          <a:xfrm>
            <a:off x="347472" y="1097280"/>
            <a:ext cx="11430000" cy="914400"/>
          </a:xfrm>
          <a:prstGeom prst="rect">
            <a:avLst/>
          </a:prstGeom>
          <a:noFill/>
        </p:spPr>
        <p:txBody>
          <a:bodyPr wrap="square" lIns="45720" rIns="45720" anchor="t">
            <a:spAutoFit/>
          </a:bodyPr>
          <a:lstStyle/>
          <a:p>
            <a:pPr algn="l">
              <a:spcAft>
                <a:spcPts val="600"/>
              </a:spcAft>
            </a:pPr>
            <a:r>
              <a:rPr lang="en-GB" sz="1700" b="1" i="0">
                <a:solidFill>
                  <a:srgbClr val="004460"/>
                </a:solidFill>
              </a:rPr>
              <a:t>MCP (Model Context Protocol) </a:t>
            </a:r>
            <a:r>
              <a:rPr lang="en-GB" sz="1700" b="0" i="0">
                <a:solidFill>
                  <a:srgbClr val="222222"/>
                </a:solidFill>
              </a:rPr>
              <a:t>is an open standard that lets AI assistants use external tools and data sources.</a:t>
            </a:r>
          </a:p>
          <a:p>
            <a:pPr algn="l">
              <a:spcAft>
                <a:spcPts val="600"/>
              </a:spcAft>
            </a:pPr>
            <a:r>
              <a:rPr lang="en-GB" sz="1700" b="1" i="0">
                <a:solidFill>
                  <a:srgbClr val="B44B6F"/>
                </a:solidFill>
              </a:rPr>
              <a:t>RA-MCP </a:t>
            </a:r>
            <a:r>
              <a:rPr lang="en-GB" sz="1700" b="0" i="0">
                <a:solidFill>
                  <a:srgbClr val="222222"/>
                </a:solidFill>
              </a:rPr>
              <a:t>turns the National Archives’ sources into such tools – ask in any language in Claude, ChatGPT or Mistral.</a:t>
            </a:r>
          </a:p>
        </p:txBody>
      </p:sp>
      <p:sp>
        <p:nvSpPr>
          <p:cNvPr id="4" name="Rounded Rectangle 3"/>
          <p:cNvSpPr/>
          <p:nvPr/>
        </p:nvSpPr>
        <p:spPr>
          <a:xfrm>
            <a:off x="347472" y="2331720"/>
            <a:ext cx="2514600"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88720" y="2606040"/>
            <a:ext cx="822960" cy="8229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er_w.png"/>
          <p:cNvPicPr>
            <a:picLocks noChangeAspect="1"/>
          </p:cNvPicPr>
          <p:nvPr/>
        </p:nvPicPr>
        <p:blipFill>
          <a:blip r:embed="rId3"/>
          <a:stretch>
            <a:fillRect/>
          </a:stretch>
        </p:blipFill>
        <p:spPr>
          <a:xfrm>
            <a:off x="1394460" y="2811780"/>
            <a:ext cx="411480" cy="411480"/>
          </a:xfrm>
          <a:prstGeom prst="rect">
            <a:avLst/>
          </a:prstGeom>
        </p:spPr>
      </p:pic>
      <p:sp>
        <p:nvSpPr>
          <p:cNvPr id="7" name="TextBox 6"/>
          <p:cNvSpPr txBox="1"/>
          <p:nvPr/>
        </p:nvSpPr>
        <p:spPr>
          <a:xfrm>
            <a:off x="484632" y="3566160"/>
            <a:ext cx="2240280" cy="411480"/>
          </a:xfrm>
          <a:prstGeom prst="rect">
            <a:avLst/>
          </a:prstGeom>
          <a:noFill/>
        </p:spPr>
        <p:txBody>
          <a:bodyPr wrap="square" lIns="45720" rIns="45720" anchor="t">
            <a:spAutoFit/>
          </a:bodyPr>
          <a:lstStyle/>
          <a:p>
            <a:pPr algn="ctr"/>
            <a:r>
              <a:rPr lang="en-GB" sz="1900" b="1" i="0">
                <a:solidFill>
                  <a:srgbClr val="222222"/>
                </a:solidFill>
              </a:rPr>
              <a:t>You</a:t>
            </a:r>
          </a:p>
        </p:txBody>
      </p:sp>
      <p:sp>
        <p:nvSpPr>
          <p:cNvPr id="8" name="TextBox 7"/>
          <p:cNvSpPr txBox="1"/>
          <p:nvPr/>
        </p:nvSpPr>
        <p:spPr>
          <a:xfrm>
            <a:off x="530352" y="4023360"/>
            <a:ext cx="2148840" cy="1051560"/>
          </a:xfrm>
          <a:prstGeom prst="rect">
            <a:avLst/>
          </a:prstGeom>
          <a:noFill/>
        </p:spPr>
        <p:txBody>
          <a:bodyPr wrap="square" lIns="45720" rIns="45720" anchor="t">
            <a:spAutoFit/>
          </a:bodyPr>
          <a:lstStyle/>
          <a:p>
            <a:pPr algn="ctr"/>
            <a:r>
              <a:rPr lang="en-GB" sz="1400" b="0" i="0">
                <a:solidFill>
                  <a:srgbClr val="222222"/>
                </a:solidFill>
              </a:rPr>
              <a:t>ask a question in any language – English, Swedish, Finnish …</a:t>
            </a:r>
          </a:p>
        </p:txBody>
      </p:sp>
      <p:sp>
        <p:nvSpPr>
          <p:cNvPr id="9" name="Right Arrow 8"/>
          <p:cNvSpPr/>
          <p:nvPr/>
        </p:nvSpPr>
        <p:spPr>
          <a:xfrm>
            <a:off x="2935224" y="3584448"/>
            <a:ext cx="329184" cy="329184"/>
          </a:xfrm>
          <a:prstGeom prst="rightArrow">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337560" y="2331720"/>
            <a:ext cx="2514600"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178808" y="2606040"/>
            <a:ext cx="822960" cy="8229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robot_w.png"/>
          <p:cNvPicPr>
            <a:picLocks noChangeAspect="1"/>
          </p:cNvPicPr>
          <p:nvPr/>
        </p:nvPicPr>
        <p:blipFill>
          <a:blip r:embed="rId4"/>
          <a:stretch>
            <a:fillRect/>
          </a:stretch>
        </p:blipFill>
        <p:spPr>
          <a:xfrm>
            <a:off x="4384548" y="2811780"/>
            <a:ext cx="411480" cy="411480"/>
          </a:xfrm>
          <a:prstGeom prst="rect">
            <a:avLst/>
          </a:prstGeom>
        </p:spPr>
      </p:pic>
      <p:sp>
        <p:nvSpPr>
          <p:cNvPr id="13" name="TextBox 12"/>
          <p:cNvSpPr txBox="1"/>
          <p:nvPr/>
        </p:nvSpPr>
        <p:spPr>
          <a:xfrm>
            <a:off x="3474720" y="3566160"/>
            <a:ext cx="2240280" cy="411480"/>
          </a:xfrm>
          <a:prstGeom prst="rect">
            <a:avLst/>
          </a:prstGeom>
          <a:noFill/>
        </p:spPr>
        <p:txBody>
          <a:bodyPr wrap="square" lIns="45720" rIns="45720" anchor="t">
            <a:spAutoFit/>
          </a:bodyPr>
          <a:lstStyle/>
          <a:p>
            <a:pPr algn="ctr"/>
            <a:r>
              <a:rPr lang="en-GB" sz="1900" b="1" i="0">
                <a:solidFill>
                  <a:srgbClr val="222222"/>
                </a:solidFill>
              </a:rPr>
              <a:t>The AI assistant</a:t>
            </a:r>
          </a:p>
        </p:txBody>
      </p:sp>
      <p:sp>
        <p:nvSpPr>
          <p:cNvPr id="14" name="TextBox 13"/>
          <p:cNvSpPr txBox="1"/>
          <p:nvPr/>
        </p:nvSpPr>
        <p:spPr>
          <a:xfrm>
            <a:off x="3520440" y="4023360"/>
            <a:ext cx="2148840" cy="1051560"/>
          </a:xfrm>
          <a:prstGeom prst="rect">
            <a:avLst/>
          </a:prstGeom>
          <a:noFill/>
        </p:spPr>
        <p:txBody>
          <a:bodyPr wrap="square" lIns="45720" rIns="45720" anchor="t">
            <a:spAutoFit/>
          </a:bodyPr>
          <a:lstStyle/>
          <a:p>
            <a:pPr algn="ctr"/>
            <a:r>
              <a:rPr lang="en-GB" sz="1400" b="0" i="0">
                <a:solidFill>
                  <a:srgbClr val="222222"/>
                </a:solidFill>
              </a:rPr>
              <a:t>interprets the question, picks tools and searches in Swedish – including old spellings</a:t>
            </a:r>
          </a:p>
        </p:txBody>
      </p:sp>
      <p:sp>
        <p:nvSpPr>
          <p:cNvPr id="15" name="Right Arrow 14"/>
          <p:cNvSpPr/>
          <p:nvPr/>
        </p:nvSpPr>
        <p:spPr>
          <a:xfrm>
            <a:off x="5925312" y="3584448"/>
            <a:ext cx="329184" cy="329184"/>
          </a:xfrm>
          <a:prstGeom prst="rightArrow">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27648" y="2331720"/>
            <a:ext cx="2514600" cy="2834640"/>
          </a:xfrm>
          <a:prstGeom prst="roundRect">
            <a:avLst>
              <a:gd name="adj" fmla="val 6000"/>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168896" y="2606040"/>
            <a:ext cx="822960" cy="822960"/>
          </a:xfrm>
          <a:prstGeom prst="ellipse">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plug_w.png"/>
          <p:cNvPicPr>
            <a:picLocks noChangeAspect="1"/>
          </p:cNvPicPr>
          <p:nvPr/>
        </p:nvPicPr>
        <p:blipFill>
          <a:blip r:embed="rId5"/>
          <a:stretch>
            <a:fillRect/>
          </a:stretch>
        </p:blipFill>
        <p:spPr>
          <a:xfrm>
            <a:off x="7374636" y="2811780"/>
            <a:ext cx="411480" cy="411480"/>
          </a:xfrm>
          <a:prstGeom prst="rect">
            <a:avLst/>
          </a:prstGeom>
        </p:spPr>
      </p:pic>
      <p:sp>
        <p:nvSpPr>
          <p:cNvPr id="19" name="TextBox 18"/>
          <p:cNvSpPr txBox="1"/>
          <p:nvPr/>
        </p:nvSpPr>
        <p:spPr>
          <a:xfrm>
            <a:off x="6464808" y="3566160"/>
            <a:ext cx="2240280" cy="411480"/>
          </a:xfrm>
          <a:prstGeom prst="rect">
            <a:avLst/>
          </a:prstGeom>
          <a:noFill/>
        </p:spPr>
        <p:txBody>
          <a:bodyPr wrap="square" lIns="45720" rIns="45720" anchor="t">
            <a:spAutoFit/>
          </a:bodyPr>
          <a:lstStyle/>
          <a:p>
            <a:pPr algn="ctr"/>
            <a:r>
              <a:rPr lang="en-GB" sz="1900" b="1" i="0">
                <a:solidFill>
                  <a:srgbClr val="FFFFFF"/>
                </a:solidFill>
              </a:rPr>
              <a:t>RA-MCP</a:t>
            </a:r>
          </a:p>
        </p:txBody>
      </p:sp>
      <p:sp>
        <p:nvSpPr>
          <p:cNvPr id="20" name="TextBox 19"/>
          <p:cNvSpPr txBox="1"/>
          <p:nvPr/>
        </p:nvSpPr>
        <p:spPr>
          <a:xfrm>
            <a:off x="6510528" y="4023360"/>
            <a:ext cx="2148840" cy="1051560"/>
          </a:xfrm>
          <a:prstGeom prst="rect">
            <a:avLst/>
          </a:prstGeom>
          <a:noFill/>
        </p:spPr>
        <p:txBody>
          <a:bodyPr wrap="square" lIns="45720" rIns="45720" anchor="t">
            <a:spAutoFit/>
          </a:bodyPr>
          <a:lstStyle/>
          <a:p>
            <a:pPr algn="ctr"/>
            <a:r>
              <a:rPr lang="en-GB" sz="1400" b="0" i="0">
                <a:solidFill>
                  <a:srgbClr val="FFFFFF"/>
                </a:solidFill>
              </a:rPr>
              <a:t>queries our systems – the data stays with us, no copy leaves the archive</a:t>
            </a:r>
          </a:p>
        </p:txBody>
      </p:sp>
      <p:sp>
        <p:nvSpPr>
          <p:cNvPr id="21" name="Right Arrow 20"/>
          <p:cNvSpPr/>
          <p:nvPr/>
        </p:nvSpPr>
        <p:spPr>
          <a:xfrm>
            <a:off x="8915400" y="3584448"/>
            <a:ext cx="329184" cy="329184"/>
          </a:xfrm>
          <a:prstGeom prst="rightArrow">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317736" y="2331720"/>
            <a:ext cx="2514600"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158984" y="2606040"/>
            <a:ext cx="822960" cy="8229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db_w.png"/>
          <p:cNvPicPr>
            <a:picLocks noChangeAspect="1"/>
          </p:cNvPicPr>
          <p:nvPr/>
        </p:nvPicPr>
        <p:blipFill>
          <a:blip r:embed="rId6"/>
          <a:stretch>
            <a:fillRect/>
          </a:stretch>
        </p:blipFill>
        <p:spPr>
          <a:xfrm>
            <a:off x="10364724" y="2811780"/>
            <a:ext cx="411480" cy="411480"/>
          </a:xfrm>
          <a:prstGeom prst="rect">
            <a:avLst/>
          </a:prstGeom>
        </p:spPr>
      </p:pic>
      <p:sp>
        <p:nvSpPr>
          <p:cNvPr id="25" name="TextBox 24"/>
          <p:cNvSpPr txBox="1"/>
          <p:nvPr/>
        </p:nvSpPr>
        <p:spPr>
          <a:xfrm>
            <a:off x="9454896" y="3566160"/>
            <a:ext cx="2240280" cy="411480"/>
          </a:xfrm>
          <a:prstGeom prst="rect">
            <a:avLst/>
          </a:prstGeom>
          <a:noFill/>
        </p:spPr>
        <p:txBody>
          <a:bodyPr wrap="square" lIns="45720" rIns="45720" anchor="t">
            <a:spAutoFit/>
          </a:bodyPr>
          <a:lstStyle/>
          <a:p>
            <a:pPr algn="ctr"/>
            <a:r>
              <a:rPr lang="en-GB" sz="1900" b="1" i="0">
                <a:solidFill>
                  <a:srgbClr val="222222"/>
                </a:solidFill>
              </a:rPr>
              <a:t>Our sources</a:t>
            </a:r>
          </a:p>
        </p:txBody>
      </p:sp>
      <p:sp>
        <p:nvSpPr>
          <p:cNvPr id="26" name="TextBox 25"/>
          <p:cNvSpPr txBox="1"/>
          <p:nvPr/>
        </p:nvSpPr>
        <p:spPr>
          <a:xfrm>
            <a:off x="9500616" y="4023360"/>
            <a:ext cx="2148840" cy="1051560"/>
          </a:xfrm>
          <a:prstGeom prst="rect">
            <a:avLst/>
          </a:prstGeom>
          <a:noFill/>
        </p:spPr>
        <p:txBody>
          <a:bodyPr wrap="square" lIns="45720" rIns="45720" anchor="t">
            <a:spAutoFit/>
          </a:bodyPr>
          <a:lstStyle/>
          <a:p>
            <a:pPr algn="ctr"/>
            <a:r>
              <a:rPr lang="en-GB" sz="1400" b="0" i="0">
                <a:solidFill>
                  <a:srgbClr val="222222"/>
                </a:solidFill>
              </a:rPr>
              <a:t>250 000 archives, 73 million images, transcribed handwriting and 30+ registers</a:t>
            </a:r>
          </a:p>
        </p:txBody>
      </p:sp>
      <p:sp>
        <p:nvSpPr>
          <p:cNvPr id="27" name="TextBox 26"/>
          <p:cNvSpPr txBox="1"/>
          <p:nvPr/>
        </p:nvSpPr>
        <p:spPr>
          <a:xfrm>
            <a:off x="347472" y="5394960"/>
            <a:ext cx="11430000" cy="411480"/>
          </a:xfrm>
          <a:prstGeom prst="rect">
            <a:avLst/>
          </a:prstGeom>
          <a:noFill/>
        </p:spPr>
        <p:txBody>
          <a:bodyPr wrap="square" lIns="45720" rIns="45720" anchor="t">
            <a:spAutoFit/>
          </a:bodyPr>
          <a:lstStyle/>
          <a:p>
            <a:pPr algn="l"/>
            <a:r>
              <a:rPr lang="en-GB" sz="1400" b="0" i="0">
                <a:solidFill>
                  <a:srgbClr val="5A5A5A"/>
                </a:solidFill>
              </a:rPr>
              <a:t>The language skills come from the language model – the answer comes back in your language, with references to the originals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What’s in RA-MCP?</a:t>
            </a:r>
          </a:p>
        </p:txBody>
      </p:sp>
      <p:sp>
        <p:nvSpPr>
          <p:cNvPr id="3" name="Rounded Rectangle 2"/>
          <p:cNvSpPr/>
          <p:nvPr/>
        </p:nvSpPr>
        <p:spPr>
          <a:xfrm>
            <a:off x="347472" y="1143000"/>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548640" y="1344168"/>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earch_w.png"/>
          <p:cNvPicPr>
            <a:picLocks noChangeAspect="1"/>
          </p:cNvPicPr>
          <p:nvPr/>
        </p:nvPicPr>
        <p:blipFill>
          <a:blip r:embed="rId3"/>
          <a:stretch>
            <a:fillRect/>
          </a:stretch>
        </p:blipFill>
        <p:spPr>
          <a:xfrm>
            <a:off x="690372" y="1485900"/>
            <a:ext cx="283464" cy="283464"/>
          </a:xfrm>
          <a:prstGeom prst="rect">
            <a:avLst/>
          </a:prstGeom>
        </p:spPr>
      </p:pic>
      <p:sp>
        <p:nvSpPr>
          <p:cNvPr id="6" name="TextBox 5"/>
          <p:cNvSpPr txBox="1"/>
          <p:nvPr/>
        </p:nvSpPr>
        <p:spPr>
          <a:xfrm>
            <a:off x="548640" y="2011680"/>
            <a:ext cx="2359152" cy="365760"/>
          </a:xfrm>
          <a:prstGeom prst="rect">
            <a:avLst/>
          </a:prstGeom>
          <a:noFill/>
        </p:spPr>
        <p:txBody>
          <a:bodyPr wrap="square" lIns="45720" rIns="45720" anchor="t">
            <a:spAutoFit/>
          </a:bodyPr>
          <a:lstStyle/>
          <a:p>
            <a:pPr algn="l"/>
            <a:r>
              <a:rPr lang="en-GB" sz="1700" b="1" i="0">
                <a:solidFill>
                  <a:srgbClr val="222222"/>
                </a:solidFill>
              </a:rPr>
              <a:t>Search handwriting</a:t>
            </a:r>
          </a:p>
        </p:txBody>
      </p:sp>
      <p:sp>
        <p:nvSpPr>
          <p:cNvPr id="7" name="TextBox 6"/>
          <p:cNvSpPr txBox="1"/>
          <p:nvPr/>
        </p:nvSpPr>
        <p:spPr>
          <a:xfrm>
            <a:off x="548640" y="2377440"/>
            <a:ext cx="2359152" cy="777240"/>
          </a:xfrm>
          <a:prstGeom prst="rect">
            <a:avLst/>
          </a:prstGeom>
          <a:noFill/>
        </p:spPr>
        <p:txBody>
          <a:bodyPr wrap="square" lIns="45720" rIns="45720" anchor="t">
            <a:spAutoFit/>
          </a:bodyPr>
          <a:lstStyle/>
          <a:p>
            <a:pPr algn="l"/>
            <a:r>
              <a:rPr lang="en-GB" sz="1300" b="0" i="0">
                <a:solidFill>
                  <a:srgbClr val="5A5A5A"/>
                </a:solidFill>
              </a:rPr>
              <a:t>AI-transcribed text, including old spellings</a:t>
            </a:r>
          </a:p>
        </p:txBody>
      </p:sp>
      <p:sp>
        <p:nvSpPr>
          <p:cNvPr id="8" name="Rounded Rectangle 7"/>
          <p:cNvSpPr/>
          <p:nvPr/>
        </p:nvSpPr>
        <p:spPr>
          <a:xfrm>
            <a:off x="3268979" y="1143000"/>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470148" y="1344168"/>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tags_w.png"/>
          <p:cNvPicPr>
            <a:picLocks noChangeAspect="1"/>
          </p:cNvPicPr>
          <p:nvPr/>
        </p:nvPicPr>
        <p:blipFill>
          <a:blip r:embed="rId4"/>
          <a:stretch>
            <a:fillRect/>
          </a:stretch>
        </p:blipFill>
        <p:spPr>
          <a:xfrm>
            <a:off x="3611879" y="1485900"/>
            <a:ext cx="283464" cy="283464"/>
          </a:xfrm>
          <a:prstGeom prst="rect">
            <a:avLst/>
          </a:prstGeom>
        </p:spPr>
      </p:pic>
      <p:sp>
        <p:nvSpPr>
          <p:cNvPr id="11" name="TextBox 10"/>
          <p:cNvSpPr txBox="1"/>
          <p:nvPr/>
        </p:nvSpPr>
        <p:spPr>
          <a:xfrm>
            <a:off x="3470148" y="2011680"/>
            <a:ext cx="2359152" cy="365760"/>
          </a:xfrm>
          <a:prstGeom prst="rect">
            <a:avLst/>
          </a:prstGeom>
          <a:noFill/>
        </p:spPr>
        <p:txBody>
          <a:bodyPr wrap="square" lIns="45720" rIns="45720" anchor="t">
            <a:spAutoFit/>
          </a:bodyPr>
          <a:lstStyle/>
          <a:p>
            <a:pPr algn="l"/>
            <a:r>
              <a:rPr lang="en-GB" sz="1700" b="1" i="0">
                <a:solidFill>
                  <a:srgbClr val="222222"/>
                </a:solidFill>
              </a:rPr>
              <a:t>Search the catalogue</a:t>
            </a:r>
          </a:p>
        </p:txBody>
      </p:sp>
      <p:sp>
        <p:nvSpPr>
          <p:cNvPr id="12" name="TextBox 11"/>
          <p:cNvSpPr txBox="1"/>
          <p:nvPr/>
        </p:nvSpPr>
        <p:spPr>
          <a:xfrm>
            <a:off x="3470148" y="2377440"/>
            <a:ext cx="2359152" cy="492443"/>
          </a:xfrm>
          <a:prstGeom prst="rect">
            <a:avLst/>
          </a:prstGeom>
          <a:noFill/>
        </p:spPr>
        <p:txBody>
          <a:bodyPr wrap="square" lIns="45720" rIns="45720" anchor="t">
            <a:spAutoFit/>
          </a:bodyPr>
          <a:lstStyle/>
          <a:p>
            <a:pPr algn="l"/>
            <a:r>
              <a:rPr lang="en-GB" sz="1300" b="0" i="0" dirty="0">
                <a:solidFill>
                  <a:srgbClr val="5A5A5A"/>
                </a:solidFill>
              </a:rPr>
              <a:t>250 000 archival inventories and 2 million+ other records</a:t>
            </a:r>
          </a:p>
        </p:txBody>
      </p:sp>
      <p:sp>
        <p:nvSpPr>
          <p:cNvPr id="13" name="Rounded Rectangle 12"/>
          <p:cNvSpPr/>
          <p:nvPr/>
        </p:nvSpPr>
        <p:spPr>
          <a:xfrm>
            <a:off x="6190488" y="1143000"/>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391655" y="1344168"/>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ye_w.png"/>
          <p:cNvPicPr>
            <a:picLocks noChangeAspect="1"/>
          </p:cNvPicPr>
          <p:nvPr/>
        </p:nvPicPr>
        <p:blipFill>
          <a:blip r:embed="rId5"/>
          <a:stretch>
            <a:fillRect/>
          </a:stretch>
        </p:blipFill>
        <p:spPr>
          <a:xfrm>
            <a:off x="6533388" y="1485900"/>
            <a:ext cx="283464" cy="283464"/>
          </a:xfrm>
          <a:prstGeom prst="rect">
            <a:avLst/>
          </a:prstGeom>
        </p:spPr>
      </p:pic>
      <p:sp>
        <p:nvSpPr>
          <p:cNvPr id="16" name="TextBox 15"/>
          <p:cNvSpPr txBox="1"/>
          <p:nvPr/>
        </p:nvSpPr>
        <p:spPr>
          <a:xfrm>
            <a:off x="6391655" y="2011680"/>
            <a:ext cx="2359152" cy="365760"/>
          </a:xfrm>
          <a:prstGeom prst="rect">
            <a:avLst/>
          </a:prstGeom>
          <a:noFill/>
        </p:spPr>
        <p:txBody>
          <a:bodyPr wrap="square" lIns="45720" rIns="45720" anchor="t">
            <a:spAutoFit/>
          </a:bodyPr>
          <a:lstStyle/>
          <a:p>
            <a:pPr algn="l"/>
            <a:r>
              <a:rPr lang="en-GB" sz="1700" b="1" i="0">
                <a:solidFill>
                  <a:srgbClr val="222222"/>
                </a:solidFill>
              </a:rPr>
              <a:t>View the originals</a:t>
            </a:r>
          </a:p>
        </p:txBody>
      </p:sp>
      <p:sp>
        <p:nvSpPr>
          <p:cNvPr id="17" name="TextBox 16"/>
          <p:cNvSpPr txBox="1"/>
          <p:nvPr/>
        </p:nvSpPr>
        <p:spPr>
          <a:xfrm>
            <a:off x="6391655" y="2377440"/>
            <a:ext cx="2359152" cy="777240"/>
          </a:xfrm>
          <a:prstGeom prst="rect">
            <a:avLst/>
          </a:prstGeom>
          <a:noFill/>
        </p:spPr>
        <p:txBody>
          <a:bodyPr wrap="square" lIns="45720" rIns="45720" anchor="t">
            <a:spAutoFit/>
          </a:bodyPr>
          <a:lstStyle/>
          <a:p>
            <a:pPr algn="l"/>
            <a:r>
              <a:rPr lang="en-GB" sz="1300" b="0" i="0">
                <a:solidFill>
                  <a:srgbClr val="5A5A5A"/>
                </a:solidFill>
              </a:rPr>
              <a:t>Page through and open the image with the text on top</a:t>
            </a:r>
          </a:p>
        </p:txBody>
      </p:sp>
      <p:sp>
        <p:nvSpPr>
          <p:cNvPr id="18" name="Rounded Rectangle 17"/>
          <p:cNvSpPr/>
          <p:nvPr/>
        </p:nvSpPr>
        <p:spPr>
          <a:xfrm>
            <a:off x="9111996" y="1143000"/>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313164" y="1344168"/>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users_w.png"/>
          <p:cNvPicPr>
            <a:picLocks noChangeAspect="1"/>
          </p:cNvPicPr>
          <p:nvPr/>
        </p:nvPicPr>
        <p:blipFill>
          <a:blip r:embed="rId6"/>
          <a:stretch>
            <a:fillRect/>
          </a:stretch>
        </p:blipFill>
        <p:spPr>
          <a:xfrm>
            <a:off x="9454896" y="1485900"/>
            <a:ext cx="283464" cy="283464"/>
          </a:xfrm>
          <a:prstGeom prst="rect">
            <a:avLst/>
          </a:prstGeom>
        </p:spPr>
      </p:pic>
      <p:sp>
        <p:nvSpPr>
          <p:cNvPr id="21" name="TextBox 20"/>
          <p:cNvSpPr txBox="1"/>
          <p:nvPr/>
        </p:nvSpPr>
        <p:spPr>
          <a:xfrm>
            <a:off x="9313164" y="2011680"/>
            <a:ext cx="2359152" cy="365760"/>
          </a:xfrm>
          <a:prstGeom prst="rect">
            <a:avLst/>
          </a:prstGeom>
          <a:noFill/>
        </p:spPr>
        <p:txBody>
          <a:bodyPr wrap="square" lIns="45720" rIns="45720" anchor="t">
            <a:spAutoFit/>
          </a:bodyPr>
          <a:lstStyle/>
          <a:p>
            <a:pPr algn="l"/>
            <a:r>
              <a:rPr lang="en-GB" sz="1700" b="1" i="0">
                <a:solidFill>
                  <a:srgbClr val="222222"/>
                </a:solidFill>
              </a:rPr>
              <a:t>People</a:t>
            </a:r>
          </a:p>
        </p:txBody>
      </p:sp>
      <p:sp>
        <p:nvSpPr>
          <p:cNvPr id="22" name="TextBox 21"/>
          <p:cNvSpPr txBox="1"/>
          <p:nvPr/>
        </p:nvSpPr>
        <p:spPr>
          <a:xfrm>
            <a:off x="9313164" y="2377440"/>
            <a:ext cx="2359152" cy="777240"/>
          </a:xfrm>
          <a:prstGeom prst="rect">
            <a:avLst/>
          </a:prstGeom>
          <a:noFill/>
        </p:spPr>
        <p:txBody>
          <a:bodyPr wrap="square" lIns="45720" rIns="45720" anchor="t">
            <a:spAutoFit/>
          </a:bodyPr>
          <a:lstStyle/>
          <a:p>
            <a:pPr algn="l"/>
            <a:r>
              <a:rPr lang="en-GB" sz="1300" b="0" i="0">
                <a:solidFill>
                  <a:srgbClr val="5A5A5A"/>
                </a:solidFill>
              </a:rPr>
              <a:t>Births, deaths, marriages and the biographical lexicon</a:t>
            </a:r>
          </a:p>
        </p:txBody>
      </p:sp>
      <p:sp>
        <p:nvSpPr>
          <p:cNvPr id="23" name="Rounded Rectangle 22"/>
          <p:cNvSpPr/>
          <p:nvPr/>
        </p:nvSpPr>
        <p:spPr>
          <a:xfrm>
            <a:off x="347472" y="3364992"/>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48640" y="3566160"/>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scroll_w.png"/>
          <p:cNvPicPr>
            <a:picLocks noChangeAspect="1"/>
          </p:cNvPicPr>
          <p:nvPr/>
        </p:nvPicPr>
        <p:blipFill>
          <a:blip r:embed="rId7"/>
          <a:stretch>
            <a:fillRect/>
          </a:stretch>
        </p:blipFill>
        <p:spPr>
          <a:xfrm>
            <a:off x="690372" y="3707892"/>
            <a:ext cx="283464" cy="283464"/>
          </a:xfrm>
          <a:prstGeom prst="rect">
            <a:avLst/>
          </a:prstGeom>
        </p:spPr>
      </p:pic>
      <p:sp>
        <p:nvSpPr>
          <p:cNvPr id="26" name="TextBox 25"/>
          <p:cNvSpPr txBox="1"/>
          <p:nvPr/>
        </p:nvSpPr>
        <p:spPr>
          <a:xfrm>
            <a:off x="548640" y="4233672"/>
            <a:ext cx="2359152" cy="365760"/>
          </a:xfrm>
          <a:prstGeom prst="rect">
            <a:avLst/>
          </a:prstGeom>
          <a:noFill/>
        </p:spPr>
        <p:txBody>
          <a:bodyPr wrap="square" lIns="45720" rIns="45720" anchor="t">
            <a:spAutoFit/>
          </a:bodyPr>
          <a:lstStyle/>
          <a:p>
            <a:pPr algn="l"/>
            <a:r>
              <a:rPr lang="en-GB" sz="1700" b="1" i="0">
                <a:solidFill>
                  <a:srgbClr val="222222"/>
                </a:solidFill>
              </a:rPr>
              <a:t>Middle Ages</a:t>
            </a:r>
          </a:p>
        </p:txBody>
      </p:sp>
      <p:sp>
        <p:nvSpPr>
          <p:cNvPr id="27" name="TextBox 26"/>
          <p:cNvSpPr txBox="1"/>
          <p:nvPr/>
        </p:nvSpPr>
        <p:spPr>
          <a:xfrm>
            <a:off x="548640" y="4599432"/>
            <a:ext cx="2359152" cy="777240"/>
          </a:xfrm>
          <a:prstGeom prst="rect">
            <a:avLst/>
          </a:prstGeom>
          <a:noFill/>
        </p:spPr>
        <p:txBody>
          <a:bodyPr wrap="square" lIns="45720" rIns="45720" anchor="t">
            <a:spAutoFit/>
          </a:bodyPr>
          <a:lstStyle/>
          <a:p>
            <a:pPr algn="l"/>
            <a:r>
              <a:rPr lang="en-GB" sz="1300" b="0" i="0">
                <a:solidFill>
                  <a:srgbClr val="5A5A5A"/>
                </a:solidFill>
              </a:rPr>
              <a:t>Medieval charters (SDHK) and parchment fragments</a:t>
            </a:r>
          </a:p>
        </p:txBody>
      </p:sp>
      <p:sp>
        <p:nvSpPr>
          <p:cNvPr id="28" name="Rounded Rectangle 27"/>
          <p:cNvSpPr/>
          <p:nvPr/>
        </p:nvSpPr>
        <p:spPr>
          <a:xfrm>
            <a:off x="3268979" y="3364992"/>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470148" y="3566160"/>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ship_w.png"/>
          <p:cNvPicPr>
            <a:picLocks noChangeAspect="1"/>
          </p:cNvPicPr>
          <p:nvPr/>
        </p:nvPicPr>
        <p:blipFill>
          <a:blip r:embed="rId8"/>
          <a:stretch>
            <a:fillRect/>
          </a:stretch>
        </p:blipFill>
        <p:spPr>
          <a:xfrm>
            <a:off x="3611879" y="3707892"/>
            <a:ext cx="283464" cy="283464"/>
          </a:xfrm>
          <a:prstGeom prst="rect">
            <a:avLst/>
          </a:prstGeom>
        </p:spPr>
      </p:pic>
      <p:sp>
        <p:nvSpPr>
          <p:cNvPr id="31" name="TextBox 30"/>
          <p:cNvSpPr txBox="1"/>
          <p:nvPr/>
        </p:nvSpPr>
        <p:spPr>
          <a:xfrm>
            <a:off x="3470148" y="4233672"/>
            <a:ext cx="2359152" cy="365760"/>
          </a:xfrm>
          <a:prstGeom prst="rect">
            <a:avLst/>
          </a:prstGeom>
          <a:noFill/>
        </p:spPr>
        <p:txBody>
          <a:bodyPr wrap="square" lIns="45720" rIns="45720" anchor="t">
            <a:spAutoFit/>
          </a:bodyPr>
          <a:lstStyle/>
          <a:p>
            <a:pPr algn="l"/>
            <a:r>
              <a:rPr lang="en-GB" sz="1700" b="1" i="0">
                <a:solidFill>
                  <a:srgbClr val="222222"/>
                </a:solidFill>
              </a:rPr>
              <a:t>More registers</a:t>
            </a:r>
          </a:p>
        </p:txBody>
      </p:sp>
      <p:sp>
        <p:nvSpPr>
          <p:cNvPr id="32" name="TextBox 31"/>
          <p:cNvSpPr txBox="1"/>
          <p:nvPr/>
        </p:nvSpPr>
        <p:spPr>
          <a:xfrm>
            <a:off x="3470148" y="4599432"/>
            <a:ext cx="2359152" cy="777240"/>
          </a:xfrm>
          <a:prstGeom prst="rect">
            <a:avLst/>
          </a:prstGeom>
          <a:noFill/>
        </p:spPr>
        <p:txBody>
          <a:bodyPr wrap="square" lIns="45720" rIns="45720" anchor="t">
            <a:spAutoFit/>
          </a:bodyPr>
          <a:lstStyle/>
          <a:p>
            <a:pPr algn="l"/>
            <a:r>
              <a:rPr lang="en-GB" sz="1300" b="0" i="0">
                <a:solidFill>
                  <a:srgbClr val="5A5A5A"/>
                </a:solidFill>
              </a:rPr>
              <a:t>Seamen’s houses, court records, companies, vehicles etc.</a:t>
            </a:r>
          </a:p>
        </p:txBody>
      </p:sp>
      <p:sp>
        <p:nvSpPr>
          <p:cNvPr id="33" name="Rounded Rectangle 32"/>
          <p:cNvSpPr/>
          <p:nvPr/>
        </p:nvSpPr>
        <p:spPr>
          <a:xfrm>
            <a:off x="6190488" y="3364992"/>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391655" y="3566160"/>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file_w.png"/>
          <p:cNvPicPr>
            <a:picLocks noChangeAspect="1"/>
          </p:cNvPicPr>
          <p:nvPr/>
        </p:nvPicPr>
        <p:blipFill>
          <a:blip r:embed="rId9"/>
          <a:stretch>
            <a:fillRect/>
          </a:stretch>
        </p:blipFill>
        <p:spPr>
          <a:xfrm>
            <a:off x="6533388" y="3707892"/>
            <a:ext cx="283464" cy="283464"/>
          </a:xfrm>
          <a:prstGeom prst="rect">
            <a:avLst/>
          </a:prstGeom>
        </p:spPr>
      </p:pic>
      <p:sp>
        <p:nvSpPr>
          <p:cNvPr id="36" name="TextBox 35"/>
          <p:cNvSpPr txBox="1"/>
          <p:nvPr/>
        </p:nvSpPr>
        <p:spPr>
          <a:xfrm>
            <a:off x="6391655" y="4233672"/>
            <a:ext cx="2359152" cy="365760"/>
          </a:xfrm>
          <a:prstGeom prst="rect">
            <a:avLst/>
          </a:prstGeom>
          <a:noFill/>
        </p:spPr>
        <p:txBody>
          <a:bodyPr wrap="square" lIns="45720" rIns="45720" anchor="t">
            <a:spAutoFit/>
          </a:bodyPr>
          <a:lstStyle/>
          <a:p>
            <a:pPr algn="l"/>
            <a:r>
              <a:rPr lang="en-GB" sz="1700" b="1" i="0">
                <a:solidFill>
                  <a:srgbClr val="222222"/>
                </a:solidFill>
              </a:rPr>
              <a:t>Research guides</a:t>
            </a:r>
          </a:p>
        </p:txBody>
      </p:sp>
      <p:sp>
        <p:nvSpPr>
          <p:cNvPr id="37" name="TextBox 36"/>
          <p:cNvSpPr txBox="1"/>
          <p:nvPr/>
        </p:nvSpPr>
        <p:spPr>
          <a:xfrm>
            <a:off x="6391655" y="4599432"/>
            <a:ext cx="2359152" cy="777240"/>
          </a:xfrm>
          <a:prstGeom prst="rect">
            <a:avLst/>
          </a:prstGeom>
          <a:noFill/>
        </p:spPr>
        <p:txBody>
          <a:bodyPr wrap="square" lIns="45720" rIns="45720" anchor="t">
            <a:spAutoFit/>
          </a:bodyPr>
          <a:lstStyle/>
          <a:p>
            <a:pPr algn="l"/>
            <a:r>
              <a:rPr lang="en-GB" sz="1300" b="0" i="0">
                <a:solidFill>
                  <a:srgbClr val="5A5A5A"/>
                </a:solidFill>
              </a:rPr>
              <a:t>The Archives’ PDF guides to sources and archival history</a:t>
            </a:r>
          </a:p>
        </p:txBody>
      </p:sp>
      <p:sp>
        <p:nvSpPr>
          <p:cNvPr id="38" name="Rounded Rectangle 37"/>
          <p:cNvSpPr/>
          <p:nvPr/>
        </p:nvSpPr>
        <p:spPr>
          <a:xfrm>
            <a:off x="9111996" y="3364992"/>
            <a:ext cx="2724912" cy="2057400"/>
          </a:xfrm>
          <a:prstGeom prst="roundRect">
            <a:avLst>
              <a:gd name="adj" fmla="val 6000"/>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313164" y="3566160"/>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compass_w.png"/>
          <p:cNvPicPr>
            <a:picLocks noChangeAspect="1"/>
          </p:cNvPicPr>
          <p:nvPr/>
        </p:nvPicPr>
        <p:blipFill>
          <a:blip r:embed="rId10"/>
          <a:stretch>
            <a:fillRect/>
          </a:stretch>
        </p:blipFill>
        <p:spPr>
          <a:xfrm>
            <a:off x="9454896" y="3707892"/>
            <a:ext cx="283464" cy="283464"/>
          </a:xfrm>
          <a:prstGeom prst="rect">
            <a:avLst/>
          </a:prstGeom>
        </p:spPr>
      </p:pic>
      <p:sp>
        <p:nvSpPr>
          <p:cNvPr id="41" name="TextBox 40"/>
          <p:cNvSpPr txBox="1"/>
          <p:nvPr/>
        </p:nvSpPr>
        <p:spPr>
          <a:xfrm>
            <a:off x="9313164" y="4233672"/>
            <a:ext cx="2359152" cy="365760"/>
          </a:xfrm>
          <a:prstGeom prst="rect">
            <a:avLst/>
          </a:prstGeom>
          <a:noFill/>
        </p:spPr>
        <p:txBody>
          <a:bodyPr wrap="square" lIns="45720" rIns="45720" anchor="t">
            <a:spAutoFit/>
          </a:bodyPr>
          <a:lstStyle/>
          <a:p>
            <a:pPr algn="l"/>
            <a:r>
              <a:rPr lang="en-GB" sz="1700" b="1" i="0">
                <a:solidFill>
                  <a:srgbClr val="FFFFFF"/>
                </a:solidFill>
              </a:rPr>
              <a:t>Skills</a:t>
            </a:r>
          </a:p>
        </p:txBody>
      </p:sp>
      <p:sp>
        <p:nvSpPr>
          <p:cNvPr id="42" name="TextBox 41"/>
          <p:cNvSpPr txBox="1"/>
          <p:nvPr/>
        </p:nvSpPr>
        <p:spPr>
          <a:xfrm>
            <a:off x="9313164" y="4599432"/>
            <a:ext cx="2359152" cy="777240"/>
          </a:xfrm>
          <a:prstGeom prst="rect">
            <a:avLst/>
          </a:prstGeom>
          <a:noFill/>
        </p:spPr>
        <p:txBody>
          <a:bodyPr wrap="square" lIns="45720" rIns="45720" anchor="t">
            <a:spAutoFit/>
          </a:bodyPr>
          <a:lstStyle/>
          <a:p>
            <a:pPr algn="l"/>
            <a:r>
              <a:rPr lang="en-GB" sz="1300" b="0" i="0">
                <a:solidFill>
                  <a:srgbClr val="FFFFFF"/>
                </a:solidFill>
              </a:rPr>
              <a:t>Built-in guidance that teaches the AI how to search archives</a:t>
            </a:r>
          </a:p>
        </p:txBody>
      </p:sp>
      <p:sp>
        <p:nvSpPr>
          <p:cNvPr id="43" name="TextBox 42"/>
          <p:cNvSpPr txBox="1"/>
          <p:nvPr/>
        </p:nvSpPr>
        <p:spPr>
          <a:xfrm>
            <a:off x="347472" y="5605272"/>
            <a:ext cx="11494008" cy="365760"/>
          </a:xfrm>
          <a:prstGeom prst="rect">
            <a:avLst/>
          </a:prstGeom>
          <a:noFill/>
        </p:spPr>
        <p:txBody>
          <a:bodyPr wrap="square" lIns="45720" rIns="45720" anchor="t">
            <a:spAutoFit/>
          </a:bodyPr>
          <a:lstStyle/>
          <a:p>
            <a:pPr algn="l"/>
            <a:r>
              <a:rPr lang="en-GB" sz="1400" b="0" i="0">
                <a:solidFill>
                  <a:srgbClr val="5A5A5A"/>
                </a:solidFill>
              </a:rPr>
              <a:t>Some thirty searchable sources – and the AI chooses which ones it needs for your question.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What can you ask?</a:t>
            </a:r>
          </a:p>
        </p:txBody>
      </p:sp>
      <p:sp>
        <p:nvSpPr>
          <p:cNvPr id="3" name="Rounded Rectangle 2"/>
          <p:cNvSpPr/>
          <p:nvPr/>
        </p:nvSpPr>
        <p:spPr>
          <a:xfrm>
            <a:off x="347472" y="1143000"/>
            <a:ext cx="3739896" cy="457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576072" y="1325880"/>
            <a:ext cx="685800" cy="68580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ree_w.png"/>
          <p:cNvPicPr>
            <a:picLocks noChangeAspect="1"/>
          </p:cNvPicPr>
          <p:nvPr/>
        </p:nvPicPr>
        <p:blipFill>
          <a:blip r:embed="rId3"/>
          <a:stretch>
            <a:fillRect/>
          </a:stretch>
        </p:blipFill>
        <p:spPr>
          <a:xfrm>
            <a:off x="747522" y="1497330"/>
            <a:ext cx="342900" cy="342900"/>
          </a:xfrm>
          <a:prstGeom prst="rect">
            <a:avLst/>
          </a:prstGeom>
        </p:spPr>
      </p:pic>
      <p:sp>
        <p:nvSpPr>
          <p:cNvPr id="6" name="TextBox 5"/>
          <p:cNvSpPr txBox="1"/>
          <p:nvPr/>
        </p:nvSpPr>
        <p:spPr>
          <a:xfrm>
            <a:off x="1399031" y="1325880"/>
            <a:ext cx="2551176" cy="365760"/>
          </a:xfrm>
          <a:prstGeom prst="rect">
            <a:avLst/>
          </a:prstGeom>
          <a:noFill/>
        </p:spPr>
        <p:txBody>
          <a:bodyPr wrap="square" lIns="45720" rIns="45720" anchor="t">
            <a:spAutoFit/>
          </a:bodyPr>
          <a:lstStyle/>
          <a:p>
            <a:pPr algn="l"/>
            <a:r>
              <a:rPr lang="en-GB" sz="1900" b="1" i="0">
                <a:solidFill>
                  <a:srgbClr val="222222"/>
                </a:solidFill>
              </a:rPr>
              <a:t>The genealogist</a:t>
            </a:r>
          </a:p>
        </p:txBody>
      </p:sp>
      <p:sp>
        <p:nvSpPr>
          <p:cNvPr id="7" name="TextBox 6"/>
          <p:cNvSpPr txBox="1"/>
          <p:nvPr/>
        </p:nvSpPr>
        <p:spPr>
          <a:xfrm>
            <a:off x="1399031" y="1691640"/>
            <a:ext cx="2551176" cy="320040"/>
          </a:xfrm>
          <a:prstGeom prst="rect">
            <a:avLst/>
          </a:prstGeom>
          <a:noFill/>
        </p:spPr>
        <p:txBody>
          <a:bodyPr wrap="square" lIns="45720" rIns="45720" anchor="t">
            <a:spAutoFit/>
          </a:bodyPr>
          <a:lstStyle/>
          <a:p>
            <a:pPr algn="l"/>
            <a:r>
              <a:rPr lang="en-GB" sz="1000" b="1" i="0">
                <a:solidFill>
                  <a:srgbClr val="B44B6F"/>
                </a:solidFill>
              </a:rPr>
              <a:t>CHURCH RECORDS (DDS)</a:t>
            </a:r>
          </a:p>
        </p:txBody>
      </p:sp>
      <p:sp>
        <p:nvSpPr>
          <p:cNvPr id="8" name="TextBox 7"/>
          <p:cNvSpPr txBox="1"/>
          <p:nvPr/>
        </p:nvSpPr>
        <p:spPr>
          <a:xfrm>
            <a:off x="576072" y="2286000"/>
            <a:ext cx="3282696" cy="3291840"/>
          </a:xfrm>
          <a:prstGeom prst="rect">
            <a:avLst/>
          </a:prstGeom>
          <a:noFill/>
        </p:spPr>
        <p:txBody>
          <a:bodyPr wrap="square" lIns="45720" rIns="45720" anchor="t">
            <a:spAutoFit/>
          </a:bodyPr>
          <a:lstStyle/>
          <a:p>
            <a:pPr algn="l">
              <a:spcAft>
                <a:spcPts val="800"/>
              </a:spcAft>
            </a:pPr>
            <a:r>
              <a:rPr lang="en-GB" sz="1500" b="0" i="0">
                <a:solidFill>
                  <a:srgbClr val="222222"/>
                </a:solidFill>
              </a:rPr>
              <a:t>“What can you find about my ancestor Mathis Michaelsson in Asarum, Sweden?”</a:t>
            </a:r>
          </a:p>
        </p:txBody>
      </p:sp>
      <p:sp>
        <p:nvSpPr>
          <p:cNvPr id="9" name="Rounded Rectangle 8"/>
          <p:cNvSpPr/>
          <p:nvPr/>
        </p:nvSpPr>
        <p:spPr>
          <a:xfrm>
            <a:off x="4224528" y="1143000"/>
            <a:ext cx="3739896" cy="457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453128" y="1325880"/>
            <a:ext cx="685800" cy="68580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grad_w.png"/>
          <p:cNvPicPr>
            <a:picLocks noChangeAspect="1"/>
          </p:cNvPicPr>
          <p:nvPr/>
        </p:nvPicPr>
        <p:blipFill>
          <a:blip r:embed="rId4"/>
          <a:stretch>
            <a:fillRect/>
          </a:stretch>
        </p:blipFill>
        <p:spPr>
          <a:xfrm>
            <a:off x="4624578" y="1497330"/>
            <a:ext cx="342900" cy="342900"/>
          </a:xfrm>
          <a:prstGeom prst="rect">
            <a:avLst/>
          </a:prstGeom>
        </p:spPr>
      </p:pic>
      <p:sp>
        <p:nvSpPr>
          <p:cNvPr id="12" name="TextBox 11"/>
          <p:cNvSpPr txBox="1"/>
          <p:nvPr/>
        </p:nvSpPr>
        <p:spPr>
          <a:xfrm>
            <a:off x="5276088" y="1325880"/>
            <a:ext cx="2551176" cy="365760"/>
          </a:xfrm>
          <a:prstGeom prst="rect">
            <a:avLst/>
          </a:prstGeom>
          <a:noFill/>
        </p:spPr>
        <p:txBody>
          <a:bodyPr wrap="square" lIns="45720" rIns="45720" anchor="t">
            <a:spAutoFit/>
          </a:bodyPr>
          <a:lstStyle/>
          <a:p>
            <a:pPr algn="l"/>
            <a:r>
              <a:rPr lang="en-GB" sz="1900" b="1" i="0">
                <a:solidFill>
                  <a:srgbClr val="222222"/>
                </a:solidFill>
              </a:rPr>
              <a:t>The researcher</a:t>
            </a:r>
          </a:p>
        </p:txBody>
      </p:sp>
      <p:sp>
        <p:nvSpPr>
          <p:cNvPr id="13" name="TextBox 12"/>
          <p:cNvSpPr txBox="1"/>
          <p:nvPr/>
        </p:nvSpPr>
        <p:spPr>
          <a:xfrm>
            <a:off x="5276088" y="1691640"/>
            <a:ext cx="2551176" cy="320040"/>
          </a:xfrm>
          <a:prstGeom prst="rect">
            <a:avLst/>
          </a:prstGeom>
          <a:noFill/>
        </p:spPr>
        <p:txBody>
          <a:bodyPr wrap="square" lIns="45720" rIns="45720" anchor="t">
            <a:spAutoFit/>
          </a:bodyPr>
          <a:lstStyle/>
          <a:p>
            <a:pPr algn="l"/>
            <a:r>
              <a:rPr lang="en-GB" sz="1000" b="1" i="0">
                <a:solidFill>
                  <a:srgbClr val="B44B6F"/>
                </a:solidFill>
              </a:rPr>
              <a:t>TRANSCRIBED HANDWRITING</a:t>
            </a:r>
          </a:p>
        </p:txBody>
      </p:sp>
      <p:sp>
        <p:nvSpPr>
          <p:cNvPr id="14" name="TextBox 13"/>
          <p:cNvSpPr txBox="1"/>
          <p:nvPr/>
        </p:nvSpPr>
        <p:spPr>
          <a:xfrm>
            <a:off x="4453128" y="2286000"/>
            <a:ext cx="3282696" cy="3291840"/>
          </a:xfrm>
          <a:prstGeom prst="rect">
            <a:avLst/>
          </a:prstGeom>
          <a:noFill/>
        </p:spPr>
        <p:txBody>
          <a:bodyPr wrap="square" lIns="45720" rIns="45720" anchor="t">
            <a:spAutoFit/>
          </a:bodyPr>
          <a:lstStyle/>
          <a:p>
            <a:pPr algn="l">
              <a:spcAft>
                <a:spcPts val="800"/>
              </a:spcAft>
            </a:pPr>
            <a:r>
              <a:rPr lang="en-GB" sz="1500" b="0" i="0">
                <a:solidFill>
                  <a:srgbClr val="222222"/>
                </a:solidFill>
              </a:rPr>
              <a:t>“Can you find historical testimonies about the 1834 cholera epidemic, compare how the disease was described in different records, and show the original sources behind your conclusions?”</a:t>
            </a:r>
          </a:p>
          <a:p>
            <a:pPr algn="l">
              <a:spcAft>
                <a:spcPts val="800"/>
              </a:spcAft>
            </a:pPr>
            <a:r>
              <a:rPr lang="en-GB" sz="1100" b="1" i="0">
                <a:solidFill>
                  <a:srgbClr val="B44B6F"/>
                </a:solidFill>
              </a:rPr>
              <a:t>Follow-up</a:t>
            </a:r>
          </a:p>
          <a:p>
            <a:pPr algn="l">
              <a:spcAft>
                <a:spcPts val="800"/>
              </a:spcAft>
            </a:pPr>
            <a:r>
              <a:rPr lang="en-GB" sz="1500" b="0" i="0">
                <a:solidFill>
                  <a:srgbClr val="222222"/>
                </a:solidFill>
              </a:rPr>
              <a:t>“What new research questions does this record raise, and what further archival material would I need to examine?”</a:t>
            </a:r>
          </a:p>
        </p:txBody>
      </p:sp>
      <p:sp>
        <p:nvSpPr>
          <p:cNvPr id="15" name="Rounded Rectangle 14"/>
          <p:cNvSpPr/>
          <p:nvPr/>
        </p:nvSpPr>
        <p:spPr>
          <a:xfrm>
            <a:off x="8101584" y="1143000"/>
            <a:ext cx="3739896" cy="457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330184" y="1325880"/>
            <a:ext cx="685800" cy="68580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archive_w.png"/>
          <p:cNvPicPr>
            <a:picLocks noChangeAspect="1"/>
          </p:cNvPicPr>
          <p:nvPr/>
        </p:nvPicPr>
        <p:blipFill>
          <a:blip r:embed="rId5"/>
          <a:stretch>
            <a:fillRect/>
          </a:stretch>
        </p:blipFill>
        <p:spPr>
          <a:xfrm>
            <a:off x="8501634" y="1497330"/>
            <a:ext cx="342900" cy="342900"/>
          </a:xfrm>
          <a:prstGeom prst="rect">
            <a:avLst/>
          </a:prstGeom>
        </p:spPr>
      </p:pic>
      <p:sp>
        <p:nvSpPr>
          <p:cNvPr id="18" name="TextBox 17"/>
          <p:cNvSpPr txBox="1"/>
          <p:nvPr/>
        </p:nvSpPr>
        <p:spPr>
          <a:xfrm>
            <a:off x="9153144" y="1325880"/>
            <a:ext cx="2551176" cy="365760"/>
          </a:xfrm>
          <a:prstGeom prst="rect">
            <a:avLst/>
          </a:prstGeom>
          <a:noFill/>
        </p:spPr>
        <p:txBody>
          <a:bodyPr wrap="square" lIns="45720" rIns="45720" anchor="t">
            <a:spAutoFit/>
          </a:bodyPr>
          <a:lstStyle/>
          <a:p>
            <a:pPr algn="l"/>
            <a:r>
              <a:rPr lang="en-GB" sz="1900" b="1" i="0">
                <a:solidFill>
                  <a:srgbClr val="222222"/>
                </a:solidFill>
              </a:rPr>
              <a:t>The archivist</a:t>
            </a:r>
          </a:p>
        </p:txBody>
      </p:sp>
      <p:sp>
        <p:nvSpPr>
          <p:cNvPr id="19" name="TextBox 18"/>
          <p:cNvSpPr txBox="1"/>
          <p:nvPr/>
        </p:nvSpPr>
        <p:spPr>
          <a:xfrm>
            <a:off x="9153144" y="1691640"/>
            <a:ext cx="2551176" cy="320040"/>
          </a:xfrm>
          <a:prstGeom prst="rect">
            <a:avLst/>
          </a:prstGeom>
          <a:noFill/>
        </p:spPr>
        <p:txBody>
          <a:bodyPr wrap="square" lIns="45720" rIns="45720" anchor="t">
            <a:spAutoFit/>
          </a:bodyPr>
          <a:lstStyle/>
          <a:p>
            <a:pPr algn="l"/>
            <a:r>
              <a:rPr lang="en-GB" sz="1000" b="1" i="0">
                <a:solidFill>
                  <a:srgbClr val="B44B6F"/>
                </a:solidFill>
              </a:rPr>
              <a:t>WHERE IS THE MATERIAL?</a:t>
            </a:r>
          </a:p>
        </p:txBody>
      </p:sp>
      <p:sp>
        <p:nvSpPr>
          <p:cNvPr id="20" name="TextBox 19"/>
          <p:cNvSpPr txBox="1"/>
          <p:nvPr/>
        </p:nvSpPr>
        <p:spPr>
          <a:xfrm>
            <a:off x="8330184" y="2286000"/>
            <a:ext cx="3282696" cy="3291840"/>
          </a:xfrm>
          <a:prstGeom prst="rect">
            <a:avLst/>
          </a:prstGeom>
          <a:noFill/>
        </p:spPr>
        <p:txBody>
          <a:bodyPr wrap="square" lIns="45720" rIns="45720" anchor="t">
            <a:spAutoFit/>
          </a:bodyPr>
          <a:lstStyle/>
          <a:p>
            <a:pPr algn="l">
              <a:spcAft>
                <a:spcPts val="800"/>
              </a:spcAft>
            </a:pPr>
            <a:r>
              <a:rPr lang="en-GB" sz="1500" b="0" i="0">
                <a:solidFill>
                  <a:srgbClr val="222222"/>
                </a:solidFill>
              </a:rPr>
              <a:t>“Can you find material of Sámi relevance in the National Archives’ HTR-transcribed collections?”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How to connect</a:t>
            </a:r>
          </a:p>
        </p:txBody>
      </p:sp>
      <p:sp>
        <p:nvSpPr>
          <p:cNvPr id="3" name="Rounded Rectangle 2"/>
          <p:cNvSpPr/>
          <p:nvPr/>
        </p:nvSpPr>
        <p:spPr>
          <a:xfrm>
            <a:off x="347472" y="1097280"/>
            <a:ext cx="11494008" cy="868680"/>
          </a:xfrm>
          <a:prstGeom prst="roundRect">
            <a:avLst>
              <a:gd name="adj" fmla="val 6000"/>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548640" y="1243584"/>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ink_w.png"/>
          <p:cNvPicPr>
            <a:picLocks noChangeAspect="1"/>
          </p:cNvPicPr>
          <p:nvPr/>
        </p:nvPicPr>
        <p:blipFill>
          <a:blip r:embed="rId3"/>
          <a:stretch>
            <a:fillRect/>
          </a:stretch>
        </p:blipFill>
        <p:spPr>
          <a:xfrm>
            <a:off x="690372" y="1385316"/>
            <a:ext cx="283464" cy="283464"/>
          </a:xfrm>
          <a:prstGeom prst="rect">
            <a:avLst/>
          </a:prstGeom>
        </p:spPr>
      </p:pic>
      <p:sp>
        <p:nvSpPr>
          <p:cNvPr id="6" name="TextBox 5"/>
          <p:cNvSpPr txBox="1"/>
          <p:nvPr/>
        </p:nvSpPr>
        <p:spPr>
          <a:xfrm>
            <a:off x="1280160" y="1161288"/>
            <a:ext cx="6309360" cy="731520"/>
          </a:xfrm>
          <a:prstGeom prst="rect">
            <a:avLst/>
          </a:prstGeom>
          <a:noFill/>
        </p:spPr>
        <p:txBody>
          <a:bodyPr wrap="square" lIns="45720" rIns="45720" anchor="ctr">
            <a:spAutoFit/>
          </a:bodyPr>
          <a:lstStyle/>
          <a:p>
            <a:pPr algn="l"/>
            <a:r>
              <a:rPr lang="en-GB" sz="1200" b="1" i="0">
                <a:solidFill>
                  <a:srgbClr val="F7DFE6"/>
                </a:solidFill>
              </a:rPr>
              <a:t>Address</a:t>
            </a:r>
          </a:p>
          <a:p>
            <a:pPr algn="l"/>
            <a:r>
              <a:rPr lang="en-GB" sz="1800" b="1" i="0">
                <a:solidFill>
                  <a:srgbClr val="FFFFFF"/>
                </a:solidFill>
                <a:latin typeface="Courier New"/>
              </a:rPr>
              <a:t>https://riksarkivet-ra-mcp.hf.space/mcp</a:t>
            </a:r>
          </a:p>
        </p:txBody>
      </p:sp>
      <p:sp>
        <p:nvSpPr>
          <p:cNvPr id="7" name="TextBox 6"/>
          <p:cNvSpPr txBox="1"/>
          <p:nvPr/>
        </p:nvSpPr>
        <p:spPr>
          <a:xfrm>
            <a:off x="7680960" y="1161288"/>
            <a:ext cx="4023360" cy="731520"/>
          </a:xfrm>
          <a:prstGeom prst="rect">
            <a:avLst/>
          </a:prstGeom>
          <a:noFill/>
        </p:spPr>
        <p:txBody>
          <a:bodyPr wrap="square" lIns="45720" rIns="45720" anchor="ctr">
            <a:spAutoFit/>
          </a:bodyPr>
          <a:lstStyle/>
          <a:p>
            <a:pPr algn="l"/>
            <a:r>
              <a:rPr lang="en-GB" sz="1200" b="1" i="0">
                <a:solidFill>
                  <a:srgbClr val="F7DFE6"/>
                </a:solidFill>
              </a:rPr>
              <a:t>Login</a:t>
            </a:r>
          </a:p>
          <a:p>
            <a:pPr algn="l"/>
            <a:r>
              <a:rPr lang="en-GB" sz="1300" b="0" i="0">
                <a:solidFill>
                  <a:srgbClr val="FFFFFF"/>
                </a:solidFill>
              </a:rPr>
              <a:t>None for RA-MCP – but your AI assistant needs its own account, often a paid plan</a:t>
            </a:r>
          </a:p>
        </p:txBody>
      </p:sp>
      <p:sp>
        <p:nvSpPr>
          <p:cNvPr id="8" name="Rounded Rectangle 7"/>
          <p:cNvSpPr/>
          <p:nvPr/>
        </p:nvSpPr>
        <p:spPr>
          <a:xfrm>
            <a:off x="347472" y="2194560"/>
            <a:ext cx="6675120"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30352" y="2423160"/>
            <a:ext cx="594360" cy="5943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2423160"/>
            <a:ext cx="594360" cy="594360"/>
          </a:xfrm>
          <a:prstGeom prst="rect">
            <a:avLst/>
          </a:prstGeom>
          <a:noFill/>
        </p:spPr>
        <p:txBody>
          <a:bodyPr wrap="square" lIns="45720" rIns="45720" anchor="ctr">
            <a:spAutoFit/>
          </a:bodyPr>
          <a:lstStyle/>
          <a:p>
            <a:pPr algn="ctr"/>
            <a:r>
              <a:rPr lang="en-GB" sz="2200" b="1" i="0">
                <a:solidFill>
                  <a:srgbClr val="FFFFFF"/>
                </a:solidFill>
              </a:rPr>
              <a:t>1</a:t>
            </a:r>
          </a:p>
        </p:txBody>
      </p:sp>
      <p:sp>
        <p:nvSpPr>
          <p:cNvPr id="11" name="TextBox 10"/>
          <p:cNvSpPr txBox="1"/>
          <p:nvPr/>
        </p:nvSpPr>
        <p:spPr>
          <a:xfrm>
            <a:off x="1325880" y="2304288"/>
            <a:ext cx="5577840" cy="365760"/>
          </a:xfrm>
          <a:prstGeom prst="rect">
            <a:avLst/>
          </a:prstGeom>
          <a:noFill/>
        </p:spPr>
        <p:txBody>
          <a:bodyPr wrap="square" lIns="45720" rIns="45720" anchor="t">
            <a:spAutoFit/>
          </a:bodyPr>
          <a:lstStyle/>
          <a:p>
            <a:pPr algn="l"/>
            <a:r>
              <a:rPr lang="en-GB" sz="1700" b="1" i="0">
                <a:solidFill>
                  <a:srgbClr val="222222"/>
                </a:solidFill>
              </a:rPr>
              <a:t>Open connectors</a:t>
            </a:r>
          </a:p>
        </p:txBody>
      </p:sp>
      <p:sp>
        <p:nvSpPr>
          <p:cNvPr id="12" name="TextBox 11"/>
          <p:cNvSpPr txBox="1"/>
          <p:nvPr/>
        </p:nvSpPr>
        <p:spPr>
          <a:xfrm>
            <a:off x="1325880" y="2651760"/>
            <a:ext cx="5577840" cy="548640"/>
          </a:xfrm>
          <a:prstGeom prst="rect">
            <a:avLst/>
          </a:prstGeom>
          <a:noFill/>
        </p:spPr>
        <p:txBody>
          <a:bodyPr wrap="square" lIns="45720" rIns="45720" anchor="t">
            <a:spAutoFit/>
          </a:bodyPr>
          <a:lstStyle/>
          <a:p>
            <a:pPr algn="l"/>
            <a:r>
              <a:rPr lang="en-GB" sz="1400" b="0" i="0">
                <a:solidFill>
                  <a:srgbClr val="5A5A5A"/>
                </a:solidFill>
              </a:rPr>
              <a:t>In your AI assistant’s settings: Connectors, Integrations or similar</a:t>
            </a:r>
          </a:p>
        </p:txBody>
      </p:sp>
      <p:sp>
        <p:nvSpPr>
          <p:cNvPr id="13" name="Rounded Rectangle 12"/>
          <p:cNvSpPr/>
          <p:nvPr/>
        </p:nvSpPr>
        <p:spPr>
          <a:xfrm>
            <a:off x="347472" y="3383280"/>
            <a:ext cx="6675120"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30352" y="3611880"/>
            <a:ext cx="594360" cy="5943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 y="3611880"/>
            <a:ext cx="594360" cy="594360"/>
          </a:xfrm>
          <a:prstGeom prst="rect">
            <a:avLst/>
          </a:prstGeom>
          <a:noFill/>
        </p:spPr>
        <p:txBody>
          <a:bodyPr wrap="square" lIns="45720" rIns="45720" anchor="ctr">
            <a:spAutoFit/>
          </a:bodyPr>
          <a:lstStyle/>
          <a:p>
            <a:pPr algn="ctr"/>
            <a:r>
              <a:rPr lang="en-GB" sz="2200" b="1" i="0">
                <a:solidFill>
                  <a:srgbClr val="FFFFFF"/>
                </a:solidFill>
              </a:rPr>
              <a:t>2</a:t>
            </a:r>
          </a:p>
        </p:txBody>
      </p:sp>
      <p:sp>
        <p:nvSpPr>
          <p:cNvPr id="16" name="TextBox 15"/>
          <p:cNvSpPr txBox="1"/>
          <p:nvPr/>
        </p:nvSpPr>
        <p:spPr>
          <a:xfrm>
            <a:off x="1325880" y="3493008"/>
            <a:ext cx="5577840" cy="365760"/>
          </a:xfrm>
          <a:prstGeom prst="rect">
            <a:avLst/>
          </a:prstGeom>
          <a:noFill/>
        </p:spPr>
        <p:txBody>
          <a:bodyPr wrap="square" lIns="45720" rIns="45720" anchor="t">
            <a:spAutoFit/>
          </a:bodyPr>
          <a:lstStyle/>
          <a:p>
            <a:pPr algn="l"/>
            <a:r>
              <a:rPr lang="en-GB" sz="1700" b="1" i="0">
                <a:solidFill>
                  <a:srgbClr val="222222"/>
                </a:solidFill>
              </a:rPr>
              <a:t>Add RA-MCP</a:t>
            </a:r>
          </a:p>
        </p:txBody>
      </p:sp>
      <p:sp>
        <p:nvSpPr>
          <p:cNvPr id="17" name="TextBox 16"/>
          <p:cNvSpPr txBox="1"/>
          <p:nvPr/>
        </p:nvSpPr>
        <p:spPr>
          <a:xfrm>
            <a:off x="1325880" y="3840480"/>
            <a:ext cx="5577840" cy="548640"/>
          </a:xfrm>
          <a:prstGeom prst="rect">
            <a:avLst/>
          </a:prstGeom>
          <a:noFill/>
        </p:spPr>
        <p:txBody>
          <a:bodyPr wrap="square" lIns="45720" rIns="45720" anchor="t">
            <a:spAutoFit/>
          </a:bodyPr>
          <a:lstStyle/>
          <a:p>
            <a:pPr algn="l"/>
            <a:r>
              <a:rPr lang="en-GB" sz="1400" b="0" i="0">
                <a:solidFill>
                  <a:srgbClr val="5A5A5A"/>
                </a:solidFill>
              </a:rPr>
              <a:t>Choose “Add custom connector”, name it RA-MCP and paste the address</a:t>
            </a:r>
          </a:p>
        </p:txBody>
      </p:sp>
      <p:sp>
        <p:nvSpPr>
          <p:cNvPr id="18" name="Rounded Rectangle 17"/>
          <p:cNvSpPr/>
          <p:nvPr/>
        </p:nvSpPr>
        <p:spPr>
          <a:xfrm>
            <a:off x="347472" y="4572000"/>
            <a:ext cx="6675120"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30352" y="4800600"/>
            <a:ext cx="594360" cy="5943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0352" y="4800600"/>
            <a:ext cx="594360" cy="594360"/>
          </a:xfrm>
          <a:prstGeom prst="rect">
            <a:avLst/>
          </a:prstGeom>
          <a:noFill/>
        </p:spPr>
        <p:txBody>
          <a:bodyPr wrap="square" lIns="45720" rIns="45720" anchor="ctr">
            <a:spAutoFit/>
          </a:bodyPr>
          <a:lstStyle/>
          <a:p>
            <a:pPr algn="ctr"/>
            <a:r>
              <a:rPr lang="en-GB" sz="2200" b="1" i="0">
                <a:solidFill>
                  <a:srgbClr val="FFFFFF"/>
                </a:solidFill>
              </a:rPr>
              <a:t>3</a:t>
            </a:r>
          </a:p>
        </p:txBody>
      </p:sp>
      <p:sp>
        <p:nvSpPr>
          <p:cNvPr id="21" name="TextBox 20"/>
          <p:cNvSpPr txBox="1"/>
          <p:nvPr/>
        </p:nvSpPr>
        <p:spPr>
          <a:xfrm>
            <a:off x="1325880" y="4681728"/>
            <a:ext cx="5577840" cy="365760"/>
          </a:xfrm>
          <a:prstGeom prst="rect">
            <a:avLst/>
          </a:prstGeom>
          <a:noFill/>
        </p:spPr>
        <p:txBody>
          <a:bodyPr wrap="square" lIns="45720" rIns="45720" anchor="t">
            <a:spAutoFit/>
          </a:bodyPr>
          <a:lstStyle/>
          <a:p>
            <a:pPr algn="l"/>
            <a:r>
              <a:rPr lang="en-GB" sz="1700" b="1" i="0">
                <a:solidFill>
                  <a:srgbClr val="222222"/>
                </a:solidFill>
              </a:rPr>
              <a:t>Turn it on and ask</a:t>
            </a:r>
          </a:p>
        </p:txBody>
      </p:sp>
      <p:sp>
        <p:nvSpPr>
          <p:cNvPr id="22" name="TextBox 21"/>
          <p:cNvSpPr txBox="1"/>
          <p:nvPr/>
        </p:nvSpPr>
        <p:spPr>
          <a:xfrm>
            <a:off x="1325880" y="5029200"/>
            <a:ext cx="5577840" cy="548640"/>
          </a:xfrm>
          <a:prstGeom prst="rect">
            <a:avLst/>
          </a:prstGeom>
          <a:noFill/>
        </p:spPr>
        <p:txBody>
          <a:bodyPr wrap="square" lIns="45720" rIns="45720" anchor="t">
            <a:spAutoFit/>
          </a:bodyPr>
          <a:lstStyle/>
          <a:p>
            <a:pPr algn="l"/>
            <a:r>
              <a:rPr lang="en-GB" sz="1400" b="0" i="0">
                <a:solidFill>
                  <a:srgbClr val="5A5A5A"/>
                </a:solidFill>
              </a:rPr>
              <a:t>Enable RA-MCP in the chat and try: “Who was Marie Louise Gagner?”</a:t>
            </a:r>
          </a:p>
        </p:txBody>
      </p:sp>
      <p:sp>
        <p:nvSpPr>
          <p:cNvPr id="23" name="Rounded Rectangle 22"/>
          <p:cNvSpPr/>
          <p:nvPr/>
        </p:nvSpPr>
        <p:spPr>
          <a:xfrm>
            <a:off x="7269480" y="2194560"/>
            <a:ext cx="4572000" cy="3429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269480" y="2194560"/>
            <a:ext cx="4572000" cy="411480"/>
          </a:xfrm>
          <a:prstGeom prst="roundRect">
            <a:avLst>
              <a:gd name="adj" fmla="val 6000"/>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269480" y="2468879"/>
            <a:ext cx="4572000" cy="137160"/>
          </a:xfrm>
          <a:prstGeom prst="rect">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434072" y="2350008"/>
            <a:ext cx="100584" cy="100584"/>
          </a:xfrm>
          <a:prstGeom prst="ellipse">
            <a:avLst/>
          </a:prstGeom>
          <a:solidFill>
            <a:srgbClr val="F7D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616952" y="2350008"/>
            <a:ext cx="100584" cy="100584"/>
          </a:xfrm>
          <a:prstGeom prst="ellipse">
            <a:avLst/>
          </a:prstGeom>
          <a:solidFill>
            <a:srgbClr val="F7D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799832" y="2350008"/>
            <a:ext cx="100584" cy="100584"/>
          </a:xfrm>
          <a:prstGeom prst="ellipse">
            <a:avLst/>
          </a:prstGeom>
          <a:solidFill>
            <a:srgbClr val="F7D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46720" y="2194560"/>
            <a:ext cx="3657600" cy="411480"/>
          </a:xfrm>
          <a:prstGeom prst="rect">
            <a:avLst/>
          </a:prstGeom>
          <a:noFill/>
        </p:spPr>
        <p:txBody>
          <a:bodyPr wrap="square" lIns="45720" rIns="45720" anchor="ctr">
            <a:spAutoFit/>
          </a:bodyPr>
          <a:lstStyle/>
          <a:p>
            <a:pPr algn="l"/>
            <a:r>
              <a:rPr lang="en-GB" sz="1300" b="1" i="0">
                <a:solidFill>
                  <a:srgbClr val="FFFFFF"/>
                </a:solidFill>
              </a:rPr>
              <a:t>Add custom connector</a:t>
            </a:r>
          </a:p>
        </p:txBody>
      </p:sp>
      <p:sp>
        <p:nvSpPr>
          <p:cNvPr id="30" name="TextBox 29"/>
          <p:cNvSpPr txBox="1"/>
          <p:nvPr/>
        </p:nvSpPr>
        <p:spPr>
          <a:xfrm>
            <a:off x="7543800" y="2834639"/>
            <a:ext cx="4023360" cy="274320"/>
          </a:xfrm>
          <a:prstGeom prst="rect">
            <a:avLst/>
          </a:prstGeom>
          <a:noFill/>
        </p:spPr>
        <p:txBody>
          <a:bodyPr wrap="square" lIns="45720" rIns="45720" anchor="t">
            <a:spAutoFit/>
          </a:bodyPr>
          <a:lstStyle/>
          <a:p>
            <a:pPr algn="l"/>
            <a:r>
              <a:rPr lang="en-GB" sz="1200" b="1" i="0">
                <a:solidFill>
                  <a:srgbClr val="5A5A5A"/>
                </a:solidFill>
              </a:rPr>
              <a:t>Name</a:t>
            </a:r>
          </a:p>
        </p:txBody>
      </p:sp>
      <p:sp>
        <p:nvSpPr>
          <p:cNvPr id="31" name="Rounded Rectangle 30"/>
          <p:cNvSpPr/>
          <p:nvPr/>
        </p:nvSpPr>
        <p:spPr>
          <a:xfrm>
            <a:off x="7543800" y="3108960"/>
            <a:ext cx="4023360" cy="457200"/>
          </a:xfrm>
          <a:prstGeom prst="roundRect">
            <a:avLst>
              <a:gd name="adj" fmla="val 15000"/>
            </a:avLst>
          </a:prstGeom>
          <a:solidFill>
            <a:srgbClr val="FAFAFA"/>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680960" y="3108960"/>
            <a:ext cx="3840480" cy="457200"/>
          </a:xfrm>
          <a:prstGeom prst="rect">
            <a:avLst/>
          </a:prstGeom>
          <a:noFill/>
        </p:spPr>
        <p:txBody>
          <a:bodyPr wrap="square" lIns="45720" rIns="45720" anchor="ctr">
            <a:spAutoFit/>
          </a:bodyPr>
          <a:lstStyle/>
          <a:p>
            <a:pPr algn="l"/>
            <a:r>
              <a:rPr lang="en-GB" sz="1400" b="0" i="0">
                <a:solidFill>
                  <a:srgbClr val="222222"/>
                </a:solidFill>
              </a:rPr>
              <a:t>RA-MCP</a:t>
            </a:r>
          </a:p>
        </p:txBody>
      </p:sp>
      <p:sp>
        <p:nvSpPr>
          <p:cNvPr id="33" name="TextBox 32"/>
          <p:cNvSpPr txBox="1"/>
          <p:nvPr/>
        </p:nvSpPr>
        <p:spPr>
          <a:xfrm>
            <a:off x="7543800" y="3749039"/>
            <a:ext cx="4023360" cy="274320"/>
          </a:xfrm>
          <a:prstGeom prst="rect">
            <a:avLst/>
          </a:prstGeom>
          <a:noFill/>
        </p:spPr>
        <p:txBody>
          <a:bodyPr wrap="square" lIns="45720" rIns="45720" anchor="t">
            <a:spAutoFit/>
          </a:bodyPr>
          <a:lstStyle/>
          <a:p>
            <a:pPr algn="l"/>
            <a:r>
              <a:rPr lang="en-GB" sz="1200" b="1" i="0">
                <a:solidFill>
                  <a:srgbClr val="5A5A5A"/>
                </a:solidFill>
              </a:rPr>
              <a:t>Server address (URL)</a:t>
            </a:r>
          </a:p>
        </p:txBody>
      </p:sp>
      <p:sp>
        <p:nvSpPr>
          <p:cNvPr id="34" name="Rounded Rectangle 33"/>
          <p:cNvSpPr/>
          <p:nvPr/>
        </p:nvSpPr>
        <p:spPr>
          <a:xfrm>
            <a:off x="7543800" y="4023360"/>
            <a:ext cx="4023360" cy="457200"/>
          </a:xfrm>
          <a:prstGeom prst="roundRect">
            <a:avLst>
              <a:gd name="adj" fmla="val 15000"/>
            </a:avLst>
          </a:prstGeom>
          <a:solidFill>
            <a:srgbClr val="FAFAFA"/>
          </a:solidFill>
          <a:ln w="12700">
            <a:solidFill>
              <a:srgbClr val="B44B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680960" y="4023360"/>
            <a:ext cx="3840480" cy="457200"/>
          </a:xfrm>
          <a:prstGeom prst="rect">
            <a:avLst/>
          </a:prstGeom>
          <a:noFill/>
        </p:spPr>
        <p:txBody>
          <a:bodyPr wrap="square" lIns="45720" rIns="45720" anchor="ctr">
            <a:spAutoFit/>
          </a:bodyPr>
          <a:lstStyle/>
          <a:p>
            <a:pPr algn="l"/>
            <a:r>
              <a:rPr lang="en-GB" sz="1100" b="0" i="0">
                <a:solidFill>
                  <a:srgbClr val="222222"/>
                </a:solidFill>
                <a:latin typeface="Courier New"/>
              </a:rPr>
              <a:t>https://riksarkivet-ra-mcp.hf.space/mcp</a:t>
            </a:r>
          </a:p>
        </p:txBody>
      </p:sp>
      <p:sp>
        <p:nvSpPr>
          <p:cNvPr id="36" name="Rounded Rectangle 35"/>
          <p:cNvSpPr/>
          <p:nvPr/>
        </p:nvSpPr>
        <p:spPr>
          <a:xfrm>
            <a:off x="10195560" y="4846320"/>
            <a:ext cx="1371600" cy="457200"/>
          </a:xfrm>
          <a:prstGeom prst="roundRect">
            <a:avLst>
              <a:gd name="adj" fmla="val 30000"/>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195560" y="4846320"/>
            <a:ext cx="1371600" cy="457200"/>
          </a:xfrm>
          <a:prstGeom prst="rect">
            <a:avLst/>
          </a:prstGeom>
          <a:noFill/>
        </p:spPr>
        <p:txBody>
          <a:bodyPr wrap="square" lIns="45720" rIns="45720" anchor="ctr">
            <a:spAutoFit/>
          </a:bodyPr>
          <a:lstStyle/>
          <a:p>
            <a:pPr algn="ctr"/>
            <a:r>
              <a:rPr lang="en-GB" sz="1300" b="1" i="0">
                <a:solidFill>
                  <a:srgbClr val="FFFFFF"/>
                </a:solidFill>
              </a:rPr>
              <a:t>Add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Status, limits and contact</a:t>
            </a:r>
          </a:p>
        </p:txBody>
      </p:sp>
      <p:sp>
        <p:nvSpPr>
          <p:cNvPr id="3" name="Rounded Rectangle 2"/>
          <p:cNvSpPr/>
          <p:nvPr/>
        </p:nvSpPr>
        <p:spPr>
          <a:xfrm>
            <a:off x="347472" y="1097280"/>
            <a:ext cx="3739896"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576072" y="1280160"/>
            <a:ext cx="685800" cy="68580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lask_w.png"/>
          <p:cNvPicPr>
            <a:picLocks noChangeAspect="1"/>
          </p:cNvPicPr>
          <p:nvPr/>
        </p:nvPicPr>
        <p:blipFill>
          <a:blip r:embed="rId3"/>
          <a:stretch>
            <a:fillRect/>
          </a:stretch>
        </p:blipFill>
        <p:spPr>
          <a:xfrm>
            <a:off x="747522" y="1451610"/>
            <a:ext cx="342900" cy="342900"/>
          </a:xfrm>
          <a:prstGeom prst="rect">
            <a:avLst/>
          </a:prstGeom>
        </p:spPr>
      </p:pic>
      <p:sp>
        <p:nvSpPr>
          <p:cNvPr id="6" name="TextBox 5"/>
          <p:cNvSpPr txBox="1"/>
          <p:nvPr/>
        </p:nvSpPr>
        <p:spPr>
          <a:xfrm>
            <a:off x="1399031" y="1280160"/>
            <a:ext cx="2606040" cy="685800"/>
          </a:xfrm>
          <a:prstGeom prst="rect">
            <a:avLst/>
          </a:prstGeom>
          <a:noFill/>
        </p:spPr>
        <p:txBody>
          <a:bodyPr wrap="square" lIns="45720" rIns="45720" anchor="ctr">
            <a:spAutoFit/>
          </a:bodyPr>
          <a:lstStyle/>
          <a:p>
            <a:pPr algn="l"/>
            <a:r>
              <a:rPr lang="en-GB" sz="1800" b="1" i="0">
                <a:solidFill>
                  <a:srgbClr val="222222"/>
                </a:solidFill>
              </a:rPr>
              <a:t>Beta test autumn 2026</a:t>
            </a:r>
          </a:p>
        </p:txBody>
      </p:sp>
      <p:sp>
        <p:nvSpPr>
          <p:cNvPr id="7" name="TextBox 6"/>
          <p:cNvSpPr txBox="1"/>
          <p:nvPr/>
        </p:nvSpPr>
        <p:spPr>
          <a:xfrm>
            <a:off x="576072" y="2148840"/>
            <a:ext cx="3337560" cy="2834640"/>
          </a:xfrm>
          <a:prstGeom prst="rect">
            <a:avLst/>
          </a:prstGeom>
          <a:noFill/>
        </p:spPr>
        <p:txBody>
          <a:bodyPr wrap="square" lIns="45720" rIns="45720" anchor="t">
            <a:spAutoFit/>
          </a:bodyPr>
          <a:lstStyle/>
          <a:p>
            <a:pPr marL="201168" indent="-201168" algn="l">
              <a:spcAft>
                <a:spcPts val="800"/>
              </a:spcAft>
              <a:buClr>
                <a:srgbClr val="B44B6F"/>
              </a:buClr>
              <a:buChar char="•"/>
            </a:pPr>
            <a:r>
              <a:rPr lang="en-GB" sz="1400" b="0" i="0">
                <a:solidFill>
                  <a:srgbClr val="222222"/>
                </a:solidFill>
              </a:rPr>
              <a:t>Open beta since September, running until year end</a:t>
            </a:r>
          </a:p>
          <a:p>
            <a:pPr marL="201168" indent="-201168" algn="l">
              <a:spcAft>
                <a:spcPts val="800"/>
              </a:spcAft>
              <a:buClr>
                <a:srgbClr val="B44B6F"/>
              </a:buClr>
              <a:buChar char="•"/>
            </a:pPr>
            <a:r>
              <a:rPr lang="en-GB" sz="1400" b="0" i="0">
                <a:solidFill>
                  <a:srgbClr val="222222"/>
                </a:solidFill>
              </a:rPr>
              <a:t>We learn from the survey, interviews and anonymised logs</a:t>
            </a:r>
          </a:p>
          <a:p>
            <a:pPr marL="201168" indent="-201168" algn="l">
              <a:spcAft>
                <a:spcPts val="800"/>
              </a:spcAft>
              <a:buClr>
                <a:srgbClr val="B44B6F"/>
              </a:buClr>
              <a:buChar char="•"/>
            </a:pPr>
            <a:r>
              <a:rPr lang="en-GB" sz="1400" b="0" i="0">
                <a:solidFill>
                  <a:srgbClr val="222222"/>
                </a:solidFill>
              </a:rPr>
              <a:t>Performance may vary – the server runs on Hugging Face</a:t>
            </a:r>
          </a:p>
        </p:txBody>
      </p:sp>
      <p:sp>
        <p:nvSpPr>
          <p:cNvPr id="8" name="Rounded Rectangle 7"/>
          <p:cNvSpPr/>
          <p:nvPr/>
        </p:nvSpPr>
        <p:spPr>
          <a:xfrm>
            <a:off x="4224528" y="1097280"/>
            <a:ext cx="3739896"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453128" y="1280160"/>
            <a:ext cx="685800" cy="68580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ban_w.png"/>
          <p:cNvPicPr>
            <a:picLocks noChangeAspect="1"/>
          </p:cNvPicPr>
          <p:nvPr/>
        </p:nvPicPr>
        <p:blipFill>
          <a:blip r:embed="rId4"/>
          <a:stretch>
            <a:fillRect/>
          </a:stretch>
        </p:blipFill>
        <p:spPr>
          <a:xfrm>
            <a:off x="4624578" y="1451610"/>
            <a:ext cx="342900" cy="342900"/>
          </a:xfrm>
          <a:prstGeom prst="rect">
            <a:avLst/>
          </a:prstGeom>
        </p:spPr>
      </p:pic>
      <p:sp>
        <p:nvSpPr>
          <p:cNvPr id="11" name="TextBox 10"/>
          <p:cNvSpPr txBox="1"/>
          <p:nvPr/>
        </p:nvSpPr>
        <p:spPr>
          <a:xfrm>
            <a:off x="5276088" y="1280160"/>
            <a:ext cx="2606040" cy="685800"/>
          </a:xfrm>
          <a:prstGeom prst="rect">
            <a:avLst/>
          </a:prstGeom>
          <a:noFill/>
        </p:spPr>
        <p:txBody>
          <a:bodyPr wrap="square" lIns="45720" rIns="45720" anchor="ctr">
            <a:spAutoFit/>
          </a:bodyPr>
          <a:lstStyle/>
          <a:p>
            <a:pPr algn="l"/>
            <a:r>
              <a:rPr lang="en-GB" sz="1800" b="1" i="0">
                <a:solidFill>
                  <a:srgbClr val="222222"/>
                </a:solidFill>
              </a:rPr>
              <a:t>Not working yet</a:t>
            </a:r>
          </a:p>
        </p:txBody>
      </p:sp>
      <p:sp>
        <p:nvSpPr>
          <p:cNvPr id="12" name="TextBox 11"/>
          <p:cNvSpPr txBox="1"/>
          <p:nvPr/>
        </p:nvSpPr>
        <p:spPr>
          <a:xfrm>
            <a:off x="4453128" y="2148840"/>
            <a:ext cx="3337560" cy="2834640"/>
          </a:xfrm>
          <a:prstGeom prst="rect">
            <a:avLst/>
          </a:prstGeom>
          <a:noFill/>
        </p:spPr>
        <p:txBody>
          <a:bodyPr wrap="square" lIns="45720" rIns="45720" anchor="t">
            <a:spAutoFit/>
          </a:bodyPr>
          <a:lstStyle/>
          <a:p>
            <a:pPr marL="201168" indent="-201168" algn="l">
              <a:spcAft>
                <a:spcPts val="800"/>
              </a:spcAft>
              <a:buClr>
                <a:srgbClr val="B44B6F"/>
              </a:buClr>
              <a:buChar char="•"/>
            </a:pPr>
            <a:r>
              <a:rPr lang="en-GB" sz="1400" b="0" i="0">
                <a:solidFill>
                  <a:srgbClr val="222222"/>
                </a:solidFill>
              </a:rPr>
              <a:t>On-demand HTR (htr_transcribe) is switched off on the open server</a:t>
            </a:r>
          </a:p>
          <a:p>
            <a:pPr marL="201168" indent="-201168" algn="l">
              <a:spcAft>
                <a:spcPts val="800"/>
              </a:spcAft>
              <a:buClr>
                <a:srgbClr val="B44B6F"/>
              </a:buClr>
              <a:buChar char="•"/>
            </a:pPr>
            <a:r>
              <a:rPr lang="en-GB" sz="1400" b="0" i="0">
                <a:solidFill>
                  <a:srgbClr val="222222"/>
                </a:solidFill>
              </a:rPr>
              <a:t>Export to Label Studio (label) is switched off</a:t>
            </a:r>
          </a:p>
          <a:p>
            <a:pPr marL="201168" indent="-201168" algn="l">
              <a:spcAft>
                <a:spcPts val="800"/>
              </a:spcAft>
              <a:buClr>
                <a:srgbClr val="B44B6F"/>
              </a:buClr>
              <a:buChar char="•"/>
            </a:pPr>
            <a:r>
              <a:rPr lang="en-GB" sz="1400" b="0" i="0">
                <a:solidFill>
                  <a:srgbClr val="222222"/>
                </a:solidFill>
              </a:rPr>
              <a:t>Not all sources are connected – the AI can’t see what’s missing</a:t>
            </a:r>
          </a:p>
          <a:p>
            <a:pPr marL="201168" indent="-201168" algn="l">
              <a:spcAft>
                <a:spcPts val="800"/>
              </a:spcAft>
              <a:buClr>
                <a:srgbClr val="B44B6F"/>
              </a:buClr>
              <a:buChar char="•"/>
            </a:pPr>
            <a:r>
              <a:rPr lang="en-GB" sz="1400" b="0" i="0">
                <a:solidFill>
                  <a:srgbClr val="222222"/>
                </a:solidFill>
              </a:rPr>
              <a:t>Transcribed text is mainly 17th–18th-century court records – not church records</a:t>
            </a:r>
          </a:p>
          <a:p>
            <a:pPr marL="201168" indent="-201168" algn="l">
              <a:spcAft>
                <a:spcPts val="800"/>
              </a:spcAft>
              <a:buClr>
                <a:srgbClr val="B44B6F"/>
              </a:buClr>
              <a:buChar char="•"/>
            </a:pPr>
            <a:r>
              <a:rPr lang="en-GB" sz="1400" b="0" i="0">
                <a:solidFill>
                  <a:srgbClr val="222222"/>
                </a:solidFill>
              </a:rPr>
              <a:t>Empty answer ≠ doesn’t exist</a:t>
            </a:r>
          </a:p>
        </p:txBody>
      </p:sp>
      <p:sp>
        <p:nvSpPr>
          <p:cNvPr id="13" name="Rounded Rectangle 12"/>
          <p:cNvSpPr/>
          <p:nvPr/>
        </p:nvSpPr>
        <p:spPr>
          <a:xfrm>
            <a:off x="8101584" y="1097280"/>
            <a:ext cx="3739896"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330184" y="1280160"/>
            <a:ext cx="685800" cy="685800"/>
          </a:xfrm>
          <a:prstGeom prst="ellipse">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bug_w.png"/>
          <p:cNvPicPr>
            <a:picLocks noChangeAspect="1"/>
          </p:cNvPicPr>
          <p:nvPr/>
        </p:nvPicPr>
        <p:blipFill>
          <a:blip r:embed="rId5"/>
          <a:stretch>
            <a:fillRect/>
          </a:stretch>
        </p:blipFill>
        <p:spPr>
          <a:xfrm>
            <a:off x="8501634" y="1451610"/>
            <a:ext cx="342900" cy="342900"/>
          </a:xfrm>
          <a:prstGeom prst="rect">
            <a:avLst/>
          </a:prstGeom>
        </p:spPr>
      </p:pic>
      <p:sp>
        <p:nvSpPr>
          <p:cNvPr id="16" name="TextBox 15"/>
          <p:cNvSpPr txBox="1"/>
          <p:nvPr/>
        </p:nvSpPr>
        <p:spPr>
          <a:xfrm>
            <a:off x="9153144" y="1280160"/>
            <a:ext cx="2606040" cy="685800"/>
          </a:xfrm>
          <a:prstGeom prst="rect">
            <a:avLst/>
          </a:prstGeom>
          <a:noFill/>
        </p:spPr>
        <p:txBody>
          <a:bodyPr wrap="square" lIns="45720" rIns="45720" anchor="ctr">
            <a:spAutoFit/>
          </a:bodyPr>
          <a:lstStyle/>
          <a:p>
            <a:pPr algn="l"/>
            <a:r>
              <a:rPr lang="en-GB" sz="1800" b="1" i="0">
                <a:solidFill>
                  <a:srgbClr val="222222"/>
                </a:solidFill>
              </a:rPr>
              <a:t>Report and follow</a:t>
            </a:r>
          </a:p>
        </p:txBody>
      </p:sp>
      <p:sp>
        <p:nvSpPr>
          <p:cNvPr id="17" name="TextBox 16"/>
          <p:cNvSpPr txBox="1"/>
          <p:nvPr/>
        </p:nvSpPr>
        <p:spPr>
          <a:xfrm>
            <a:off x="8330184" y="2148840"/>
            <a:ext cx="3337560" cy="2834640"/>
          </a:xfrm>
          <a:prstGeom prst="rect">
            <a:avLst/>
          </a:prstGeom>
          <a:noFill/>
        </p:spPr>
        <p:txBody>
          <a:bodyPr wrap="square" lIns="45720" rIns="45720" anchor="t">
            <a:spAutoFit/>
          </a:bodyPr>
          <a:lstStyle/>
          <a:p>
            <a:pPr marL="201168" indent="-201168" algn="l">
              <a:spcAft>
                <a:spcPts val="800"/>
              </a:spcAft>
              <a:buClr>
                <a:srgbClr val="004460"/>
              </a:buClr>
              <a:buChar char="•"/>
            </a:pPr>
            <a:r>
              <a:rPr lang="en-GB" sz="1400" b="1" i="0">
                <a:solidFill>
                  <a:srgbClr val="222222"/>
                </a:solidFill>
              </a:rPr>
              <a:t>Bugs and requests</a:t>
            </a:r>
            <a:br/>
            <a:r>
              <a:rPr lang="en-GB" sz="1300" b="0" i="0">
                <a:solidFill>
                  <a:srgbClr val="004460"/>
                </a:solidFill>
                <a:hlinkClick r:id="rId6"/>
              </a:rPr>
              <a:t>AI@riksarkivet.se</a:t>
            </a:r>
          </a:p>
          <a:p>
            <a:pPr marL="201168" indent="-201168" algn="l">
              <a:spcAft>
                <a:spcPts val="800"/>
              </a:spcAft>
              <a:buClr>
                <a:srgbClr val="004460"/>
              </a:buClr>
              <a:buChar char="•"/>
            </a:pPr>
            <a:r>
              <a:rPr lang="en-GB" sz="1400" b="1" i="0">
                <a:solidFill>
                  <a:srgbClr val="222222"/>
                </a:solidFill>
              </a:rPr>
              <a:t>Evaluate your testing</a:t>
            </a:r>
            <a:br/>
            <a:r>
              <a:rPr lang="en-GB" sz="1300" b="0" i="0">
                <a:solidFill>
                  <a:srgbClr val="004460"/>
                </a:solidFill>
                <a:hlinkClick r:id="rId7"/>
              </a:rPr>
              <a:t>Survey: Beta Test Survey – RA-MCP</a:t>
            </a:r>
          </a:p>
          <a:p>
            <a:pPr marL="201168" indent="-201168" algn="l">
              <a:spcAft>
                <a:spcPts val="800"/>
              </a:spcAft>
              <a:buClr>
                <a:srgbClr val="004460"/>
              </a:buClr>
              <a:buChar char="•"/>
            </a:pPr>
            <a:r>
              <a:rPr lang="en-GB" sz="1400" b="1" i="0">
                <a:solidFill>
                  <a:srgbClr val="222222"/>
                </a:solidFill>
              </a:rPr>
              <a:t>Documentation</a:t>
            </a:r>
            <a:br/>
            <a:r>
              <a:rPr lang="en-GB" sz="1300" b="0" i="0">
                <a:solidFill>
                  <a:srgbClr val="004460"/>
                </a:solidFill>
                <a:hlinkClick r:id="rId8"/>
              </a:rPr>
              <a:t>ai-riksarkivet.github.io/ra-mcp</a:t>
            </a:r>
          </a:p>
        </p:txBody>
      </p:sp>
      <p:sp>
        <p:nvSpPr>
          <p:cNvPr id="18" name="Rounded Rectangle 17"/>
          <p:cNvSpPr/>
          <p:nvPr/>
        </p:nvSpPr>
        <p:spPr>
          <a:xfrm>
            <a:off x="347472" y="5285232"/>
            <a:ext cx="11494008" cy="566928"/>
          </a:xfrm>
          <a:prstGeom prst="roundRect">
            <a:avLst>
              <a:gd name="adj" fmla="val 6000"/>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5285232"/>
            <a:ext cx="11155680" cy="566928"/>
          </a:xfrm>
          <a:prstGeom prst="rect">
            <a:avLst/>
          </a:prstGeom>
          <a:noFill/>
        </p:spPr>
        <p:txBody>
          <a:bodyPr wrap="square" lIns="45720" rIns="45720" anchor="ctr">
            <a:spAutoFit/>
          </a:bodyPr>
          <a:lstStyle/>
          <a:p>
            <a:pPr algn="l"/>
            <a:r>
              <a:rPr lang="en-GB" sz="1500" b="1" i="0">
                <a:solidFill>
                  <a:srgbClr val="F7DFE6"/>
                </a:solidFill>
              </a:rPr>
              <a:t>Tip:  </a:t>
            </a:r>
            <a:r>
              <a:rPr lang="en-GB" sz="1500" b="0" i="0">
                <a:solidFill>
                  <a:srgbClr val="FFFFFF"/>
                </a:solidFill>
              </a:rPr>
              <a:t>Always ask “Where did you search?” – and check against the original before drawing conclusions.</a:t>
            </a:r>
          </a:p>
        </p:txBody>
      </p:sp>
    </p:spTree>
  </p:cSld>
  <p:clrMapOvr>
    <a:masterClrMapping/>
  </p:clrMapOvr>
</p:sld>
</file>

<file path=ppt/theme/theme1.xml><?xml version="1.0" encoding="utf-8"?>
<a:theme xmlns:a="http://schemas.openxmlformats.org/drawingml/2006/main" name="Office-tema">
  <a:themeElements>
    <a:clrScheme name="2025 Riksarkivet">
      <a:dk1>
        <a:srgbClr val="222222"/>
      </a:dk1>
      <a:lt1>
        <a:srgbClr val="FFFFFF"/>
      </a:lt1>
      <a:dk2>
        <a:srgbClr val="004460"/>
      </a:dk2>
      <a:lt2>
        <a:srgbClr val="FAFAFA"/>
      </a:lt2>
      <a:accent1>
        <a:srgbClr val="F2C948"/>
      </a:accent1>
      <a:accent2>
        <a:srgbClr val="FCF6E3"/>
      </a:accent2>
      <a:accent3>
        <a:srgbClr val="B44B6F"/>
      </a:accent3>
      <a:accent4>
        <a:srgbClr val="F7DFE6"/>
      </a:accent4>
      <a:accent5>
        <a:srgbClr val="C4D8B0"/>
      </a:accent5>
      <a:accent6>
        <a:srgbClr val="E5F1F8"/>
      </a:accent6>
      <a:hlink>
        <a:srgbClr val="0563C1"/>
      </a:hlink>
      <a:folHlink>
        <a:srgbClr val="954F72"/>
      </a:folHlink>
    </a:clrScheme>
    <a:fontScheme name="Anpassat 2">
      <a:majorFont>
        <a:latin typeface="Open Sans Medium"/>
        <a:ea typeface=""/>
        <a:cs typeface=""/>
      </a:majorFont>
      <a:minorFont>
        <a:latin typeface="Open Sans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16-9_plommon.potx" id="{40AFF6DA-242C-470D-9A80-26E89999F44D}" vid="{25CE219D-8960-496F-8F40-6A6689B6806C}"/>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ppt_16-9_plommon</Template>
  <TotalTime>485</TotalTime>
  <Words>1466</Words>
  <Application>Microsoft Office PowerPoint</Application>
  <PresentationFormat>Bredbild</PresentationFormat>
  <Paragraphs>107</Paragraphs>
  <Slides>5</Slides>
  <Notes>5</Notes>
  <HiddenSlides>0</HiddenSlides>
  <MMClips>0</MMClips>
  <ScaleCrop>false</ScaleCrop>
  <HeadingPairs>
    <vt:vector size="6" baseType="variant">
      <vt:variant>
        <vt:lpstr>Använt teckensnitt</vt:lpstr>
      </vt:variant>
      <vt:variant>
        <vt:i4>5</vt:i4>
      </vt:variant>
      <vt:variant>
        <vt:lpstr>Tema</vt:lpstr>
      </vt:variant>
      <vt:variant>
        <vt:i4>1</vt:i4>
      </vt:variant>
      <vt:variant>
        <vt:lpstr>Bildrubriker</vt:lpstr>
      </vt:variant>
      <vt:variant>
        <vt:i4>5</vt:i4>
      </vt:variant>
    </vt:vector>
  </HeadingPairs>
  <TitlesOfParts>
    <vt:vector size="11" baseType="lpstr">
      <vt:lpstr>Aptos</vt:lpstr>
      <vt:lpstr>Arial</vt:lpstr>
      <vt:lpstr>Courier New</vt:lpstr>
      <vt:lpstr>Open Sans</vt:lpstr>
      <vt:lpstr>Open Sans Medium</vt:lpstr>
      <vt:lpstr>Office-tema</vt:lpstr>
      <vt:lpstr>What is RA-MCP?</vt:lpstr>
      <vt:lpstr>What’s in RA-MCP?</vt:lpstr>
      <vt:lpstr>What can you ask?</vt:lpstr>
      <vt:lpstr>How to connect</vt:lpstr>
      <vt:lpstr>Status, limits and contact</vt:lpstr>
    </vt:vector>
  </TitlesOfParts>
  <Company>Riksarkivet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 Sjöholm</dc:creator>
  <cp:lastModifiedBy>Julia Sjöholm</cp:lastModifiedBy>
  <cp:revision>8</cp:revision>
  <dcterms:created xsi:type="dcterms:W3CDTF">2026-10-06T11:59:06Z</dcterms:created>
  <dcterms:modified xsi:type="dcterms:W3CDTF">2026-10-15T05:30:31Z</dcterms:modified>
</cp:coreProperties>
</file>